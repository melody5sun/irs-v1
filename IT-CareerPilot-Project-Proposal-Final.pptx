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6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6" r:id="rId1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1" d="100"/>
          <a:sy n="61" d="100"/>
        </p:scale>
        <p:origin x="606" y="4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开场介绍项目名称和目标用户。强调 CareerPilot 面向正在申请 IT 实习和校招岗位的学生，帮助他们选择更合适的岗位，并围绕具体 JD 准备申请材料。展示右侧当前交互原型，说明本次汇报聚焦项目问题、解决方案、技术框架和实施计划。建议用时 45 秒。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从学生的实际申请流程切入。第一个问题是岗位信息分散，第二个问题是 IT 岗位要求复杂，第三个问题是通用简历缺乏针对性，最后是学生难以安排有限的准备时间。这四个断点彼此连接，单点工具只能解决其中一部分。建议用时 60 秒。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32F705-379D-DAE1-86EF-9C50705723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E50B98E-2955-2407-36A3-746F510A8CC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259D70F-C7F1-BB5C-CFBA-6CF717DD829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从学生的实际申请流程切入。第一个问题是岗位信息分散，第二个问题是 IT 岗位要求复杂，第三个问题是通用简历缺乏针对性，最后是学生难以安排有限的准备时间。这四个断点彼此连接，单点工具只能解决其中一部分。建议用时 60 秒。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16135D-65FE-C62A-813F-8704D03F7C5F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51949140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市场上的产品大致分为招聘平台、简历优化工具和自动申请工具。它们通常只覆盖岗位发现或关键词优化。CareerPilot 的区别在于把推荐解释、JD 定向简历优化、面试准备和进度建议连接起来，同时保留人工审阅和提交。建议用时 60 秒。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说明整个使用流程。学生上传简历并设置岗位意向，系统解析学生画像和岗位 JD，再进行推荐和解释。学生选择目标岗位后，系统生成简历修改建议和模拟面试内容。最后由学生审阅并提交。强调人在环设计，系统不会替学生执行不可逆的申请操作。建议用时 70 秒。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 err="1"/>
              <a:t>这一页展示四个核心能力如何围绕同一个目标</a:t>
            </a:r>
            <a:r>
              <a:rPr dirty="0"/>
              <a:t> JD 工作。岗位推荐解决选择问题，推荐解释说明依据，简历优化帮助学生针对岗位表达真实经历，模拟面试和进度建议帮助学生继续准备。所有输出都依赖学生画像和岗位要求，而不是生成通用内容。建议用时 70 秒。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Proposal 阶段需要控制范围。项目包含岗位推荐、解释、JD 定向简历优化、模拟面试原型和基础进度建议。项目明确排除自动投递、结果保证、虚构经历和大规模商业网站抓取。首版聚焦英文 IT 岗位，避免过早扩展到差异很大的行业和高级职位。建议用时 60 秒。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架构分为五层。用户界面延续现有 React、TypeScript 或单文件 HTML 原型。FastAPI 负责连接前端与各个推理模块。推理层包含规则、语义匹配、知识图谱和受约束生成。数据层保存学生画像、岗位画像和证据片段。底层数据来自公开 JD、技能 ontology 和脱敏简历。建议用时 90 秒。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混合推理是项目的核心。规则引擎先处理不能妥协的资格条件。语义匹配比较学生经历与岗位职责。技能图谱解释技能之间的关系。LLM 负责生成解释、简历草稿和面试内容，但必须受学生事实约束。基础计划规则再结合截止日期和时间预算给出下一步行动。建议用时 90 秒。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项目使用公开岗位描述、ESCO 和 O*NET 技能信息、脱敏简历样本，以及公开面试材料。评估先以人工样例检查为主，分别检查抽取准确性、推荐合理性、技能差距解释、简历事实一致性和面试内容实用性。因为没有真实申请结果标签，本阶段不会宣称提升面试率。建议用时 75 秒。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总结预期成果。项目将交付带解释的岗位推荐、受事实约束的简历优化建议、模拟面试和进度提示原型，以及可复现的模块化工程实现。最后再次强调系统提供建议，学生保留最终决定权。进入答疑。建议用时 45 秒。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矩形 15">
            <a:extLst>
              <a:ext uri="{FF2B5EF4-FFF2-40B4-BE49-F238E27FC236}">
                <a16:creationId xmlns:a16="http://schemas.microsoft.com/office/drawing/2014/main" id="{A0C91425-E908-4E40-8917-D80B1A8827DB}"/>
              </a:ext>
            </a:extLst>
          </p:cNvPr>
          <p:cNvSpPr>
            <a:spLocks noGrp="1"/>
          </p:cNvSpPr>
          <p:nvPr/>
        </p:nvSpPr>
        <p:spPr>
          <a:xfrm>
            <a:off x="533400" y="333375"/>
            <a:ext cx="2095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725" b="1" i="0">
                <a:solidFill>
                  <a:srgbClr val="201F1D"/>
                </a:solidFill>
                <a:latin typeface="Georgia"/>
                <a:ea typeface="Georgia"/>
                <a:cs typeface="Georgia"/>
              </a:defRPr>
            </a:pPr>
            <a:r>
              <a:rPr sz="1725" b="1" i="0">
                <a:solidFill>
                  <a:srgbClr val="201F1D"/>
                </a:solidFill>
                <a:latin typeface="Georgia"/>
                <a:ea typeface="Georgia"/>
                <a:cs typeface="Georgia"/>
              </a:rPr>
              <a:t>CareerPilot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A1976BC0-2FE6-4891-BDA3-EDF3662E6720}"/>
              </a:ext>
            </a:extLst>
          </p:cNvPr>
          <p:cNvSpPr>
            <a:spLocks noGrp="1"/>
          </p:cNvSpPr>
          <p:nvPr/>
        </p:nvSpPr>
        <p:spPr>
          <a:xfrm>
            <a:off x="7086600" y="361950"/>
            <a:ext cx="4572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defRPr sz="1050" b="0" i="0">
                <a:solidFill>
                  <a:srgbClr val="7D5411"/>
                </a:solidFill>
                <a:latin typeface="Georgia"/>
                <a:ea typeface="Georgia"/>
                <a:cs typeface="Georgia"/>
              </a:defRPr>
            </a:pPr>
            <a:r>
              <a:rPr sz="1050" b="0" i="0">
                <a:solidFill>
                  <a:srgbClr val="7D5411"/>
                </a:solidFill>
                <a:latin typeface="Georgia"/>
                <a:ea typeface="Georgia"/>
                <a:cs typeface="Georgia"/>
              </a:rPr>
              <a:t>IT 求职推理系统 · PROJECT PROPOSAL</a:t>
            </a:r>
          </a:p>
        </p:txBody>
      </p:sp>
      <p:sp>
        <p:nvSpPr>
          <p:cNvPr id="3" name="直接连接符 2">
            <a:extLst>
              <a:ext uri="{FF2B5EF4-FFF2-40B4-BE49-F238E27FC236}">
                <a16:creationId xmlns:a16="http://schemas.microsoft.com/office/drawing/2014/main" id="{D7984780-0DD2-4563-9B69-537A095A1FCC}"/>
              </a:ext>
            </a:extLst>
          </p:cNvPr>
          <p:cNvSpPr>
            <a:spLocks noGrp="1"/>
          </p:cNvSpPr>
          <p:nvPr/>
        </p:nvSpPr>
        <p:spPr>
          <a:xfrm>
            <a:off x="533400" y="723900"/>
            <a:ext cx="11125200" cy="0"/>
          </a:xfrm>
          <a:prstGeom prst="line">
            <a:avLst/>
          </a:prstGeom>
          <a:noFill/>
          <a:ln w="9525">
            <a:solidFill>
              <a:srgbClr val="C9C5C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7D321FB6-4696-486C-A239-2A21A3BEAF54}"/>
              </a:ext>
            </a:extLst>
          </p:cNvPr>
          <p:cNvSpPr>
            <a:spLocks noGrp="1"/>
          </p:cNvSpPr>
          <p:nvPr/>
        </p:nvSpPr>
        <p:spPr>
          <a:xfrm>
            <a:off x="533400" y="1257300"/>
            <a:ext cx="4953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050" b="0" i="0">
                <a:solidFill>
                  <a:srgbClr val="B68235"/>
                </a:solidFill>
                <a:latin typeface="Georgia"/>
                <a:ea typeface="Georgia"/>
                <a:cs typeface="Georgia"/>
              </a:defRPr>
            </a:pPr>
            <a:r>
              <a:rPr sz="1050" b="0" i="0">
                <a:solidFill>
                  <a:srgbClr val="B68235"/>
                </a:solidFill>
                <a:latin typeface="Georgia"/>
                <a:ea typeface="Georgia"/>
                <a:cs typeface="Georgia"/>
              </a:rPr>
              <a:t>NUS ISS · PRACTICE MODULE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A1CF03C-3FCA-4B64-83B2-0FA149EC42FF}"/>
              </a:ext>
            </a:extLst>
          </p:cNvPr>
          <p:cNvSpPr>
            <a:spLocks noGrp="1"/>
          </p:cNvSpPr>
          <p:nvPr/>
        </p:nvSpPr>
        <p:spPr>
          <a:xfrm>
            <a:off x="533400" y="1733550"/>
            <a:ext cx="5619750" cy="1809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5400" b="0" i="0">
                <a:solidFill>
                  <a:srgbClr val="201F1D"/>
                </a:solidFill>
                <a:latin typeface="Noto Serif SC"/>
                <a:ea typeface="Noto Serif SC"/>
                <a:cs typeface="Noto Serif SC"/>
              </a:defRPr>
            </a:pPr>
            <a:r>
              <a:rPr sz="5400" b="0" i="0">
                <a:solidFill>
                  <a:srgbClr val="201F1D"/>
                </a:solidFill>
                <a:latin typeface="Noto Serif SC"/>
                <a:ea typeface="Noto Serif SC"/>
                <a:cs typeface="Noto Serif SC"/>
              </a:rPr>
              <a:t>让每一次申请</a:t>
            </a:r>
          </a:p>
          <a:p>
            <a:pPr algn="l">
              <a:defRPr sz="5400" b="0" i="0">
                <a:solidFill>
                  <a:srgbClr val="201F1D"/>
                </a:solidFill>
                <a:latin typeface="Noto Serif SC"/>
                <a:ea typeface="Noto Serif SC"/>
                <a:cs typeface="Noto Serif SC"/>
              </a:defRPr>
            </a:pPr>
            <a:r>
              <a:rPr sz="5400" b="0" i="0">
                <a:solidFill>
                  <a:srgbClr val="201F1D"/>
                </a:solidFill>
                <a:latin typeface="Noto Serif SC"/>
                <a:ea typeface="Noto Serif SC"/>
                <a:cs typeface="Noto Serif SC"/>
              </a:rPr>
              <a:t>更有根据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2BDD8703-CAB0-41A9-92C7-19EE92B51476}"/>
              </a:ext>
            </a:extLst>
          </p:cNvPr>
          <p:cNvSpPr>
            <a:spLocks noGrp="1"/>
          </p:cNvSpPr>
          <p:nvPr/>
        </p:nvSpPr>
        <p:spPr>
          <a:xfrm>
            <a:off x="552450" y="3771900"/>
            <a:ext cx="523875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2025" b="0" i="1">
                <a:solidFill>
                  <a:srgbClr val="666160"/>
                </a:solidFill>
                <a:latin typeface="Noto Serif SC"/>
                <a:ea typeface="Noto Serif SC"/>
                <a:cs typeface="Noto Serif SC"/>
              </a:defRPr>
            </a:pPr>
            <a:r>
              <a:rPr sz="2025" b="0" i="1">
                <a:solidFill>
                  <a:srgbClr val="666160"/>
                </a:solidFill>
                <a:latin typeface="Noto Serif SC"/>
                <a:ea typeface="Noto Serif SC"/>
                <a:cs typeface="Noto Serif SC"/>
              </a:rPr>
              <a:t>面向 IT 学生实习与毕业求职的</a:t>
            </a:r>
          </a:p>
          <a:p>
            <a:pPr algn="l">
              <a:defRPr sz="2025" b="0" i="1">
                <a:solidFill>
                  <a:srgbClr val="666160"/>
                </a:solidFill>
                <a:latin typeface="Noto Serif SC"/>
                <a:ea typeface="Noto Serif SC"/>
                <a:cs typeface="Noto Serif SC"/>
              </a:defRPr>
            </a:pPr>
            <a:r>
              <a:rPr sz="2025" b="0" i="1">
                <a:solidFill>
                  <a:srgbClr val="666160"/>
                </a:solidFill>
                <a:latin typeface="Noto Serif SC"/>
                <a:ea typeface="Noto Serif SC"/>
                <a:cs typeface="Noto Serif SC"/>
              </a:rPr>
              <a:t>可解释混合推理系统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63A32F82-6AC8-460D-9E23-4EE1523BA17B}"/>
              </a:ext>
            </a:extLst>
          </p:cNvPr>
          <p:cNvSpPr>
            <a:spLocks noGrp="1"/>
          </p:cNvSpPr>
          <p:nvPr/>
        </p:nvSpPr>
        <p:spPr>
          <a:xfrm>
            <a:off x="552450" y="4743450"/>
            <a:ext cx="781050" cy="38100"/>
          </a:xfrm>
          <a:prstGeom prst="rect">
            <a:avLst/>
          </a:prstGeom>
          <a:solidFill>
            <a:srgbClr val="C0492F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062F886A-EB99-4F88-AF57-DA1E206B383D}"/>
              </a:ext>
            </a:extLst>
          </p:cNvPr>
          <p:cNvSpPr>
            <a:spLocks noGrp="1"/>
          </p:cNvSpPr>
          <p:nvPr/>
        </p:nvSpPr>
        <p:spPr>
          <a:xfrm>
            <a:off x="552450" y="4991100"/>
            <a:ext cx="4095750" cy="1047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425" b="0" i="0">
                <a:solidFill>
                  <a:srgbClr val="666160"/>
                </a:solidFill>
                <a:latin typeface="Noto Serif SC"/>
                <a:ea typeface="Noto Serif SC"/>
                <a:cs typeface="Noto Serif SC"/>
              </a:defRPr>
            </a:pPr>
            <a:r>
              <a:rPr sz="1425" b="0" i="0">
                <a:solidFill>
                  <a:srgbClr val="666160"/>
                </a:solidFill>
                <a:latin typeface="Noto Serif SC"/>
                <a:ea typeface="Noto Serif SC"/>
                <a:cs typeface="Noto Serif SC"/>
              </a:rPr>
              <a:t>岗位发现与匹配</a:t>
            </a:r>
          </a:p>
          <a:p>
            <a:pPr algn="l">
              <a:defRPr sz="1425" b="0" i="0">
                <a:solidFill>
                  <a:srgbClr val="666160"/>
                </a:solidFill>
                <a:latin typeface="Noto Serif SC"/>
                <a:ea typeface="Noto Serif SC"/>
                <a:cs typeface="Noto Serif SC"/>
              </a:defRPr>
            </a:pPr>
            <a:r>
              <a:rPr sz="1425" b="0" i="0">
                <a:solidFill>
                  <a:srgbClr val="666160"/>
                </a:solidFill>
                <a:latin typeface="Noto Serif SC"/>
                <a:ea typeface="Noto Serif SC"/>
                <a:cs typeface="Noto Serif SC"/>
              </a:rPr>
              <a:t>基于目标 JD 的简历优化</a:t>
            </a:r>
          </a:p>
          <a:p>
            <a:pPr algn="l">
              <a:defRPr sz="1425" b="0" i="0">
                <a:solidFill>
                  <a:srgbClr val="666160"/>
                </a:solidFill>
                <a:latin typeface="Noto Serif SC"/>
                <a:ea typeface="Noto Serif SC"/>
                <a:cs typeface="Noto Serif SC"/>
              </a:defRPr>
            </a:pPr>
            <a:r>
              <a:rPr sz="1425" b="0" i="0">
                <a:solidFill>
                  <a:srgbClr val="666160"/>
                </a:solidFill>
                <a:latin typeface="Noto Serif SC"/>
                <a:ea typeface="Noto Serif SC"/>
                <a:cs typeface="Noto Serif SC"/>
              </a:rPr>
              <a:t>模拟面试与申请进度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58A9AFAD-F8AA-47B7-B6F8-807657AF368B}"/>
              </a:ext>
            </a:extLst>
          </p:cNvPr>
          <p:cNvSpPr>
            <a:spLocks noGrp="1"/>
          </p:cNvSpPr>
          <p:nvPr/>
        </p:nvSpPr>
        <p:spPr>
          <a:xfrm>
            <a:off x="7086600" y="5867400"/>
            <a:ext cx="4762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350" b="1" i="0">
                <a:solidFill>
                  <a:srgbClr val="201F1D"/>
                </a:solidFill>
                <a:latin typeface="Noto Serif SC"/>
                <a:ea typeface="Noto Serif SC"/>
                <a:cs typeface="Noto Serif SC"/>
              </a:defRPr>
            </a:pPr>
            <a:r>
              <a:rPr sz="1350" b="1" i="0">
                <a:solidFill>
                  <a:srgbClr val="201F1D"/>
                </a:solidFill>
                <a:latin typeface="Noto Serif SC"/>
                <a:ea typeface="Noto Serif SC"/>
                <a:cs typeface="Noto Serif SC"/>
              </a:rPr>
              <a:t>当前交互原型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4F7C180F-8584-4220-81CB-5B44EF21F939}"/>
              </a:ext>
            </a:extLst>
          </p:cNvPr>
          <p:cNvSpPr>
            <a:spLocks noGrp="1"/>
          </p:cNvSpPr>
          <p:nvPr/>
        </p:nvSpPr>
        <p:spPr>
          <a:xfrm>
            <a:off x="7086600" y="6210300"/>
            <a:ext cx="4762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200" b="0" i="0">
                <a:solidFill>
                  <a:srgbClr val="666160"/>
                </a:solidFill>
                <a:latin typeface="Noto Serif SC"/>
                <a:ea typeface="Noto Serif SC"/>
                <a:cs typeface="Noto Serif SC"/>
              </a:defRPr>
            </a:pPr>
            <a:r>
              <a:rPr sz="1200" b="0" i="0">
                <a:solidFill>
                  <a:srgbClr val="666160"/>
                </a:solidFill>
                <a:latin typeface="Noto Serif SC"/>
                <a:ea typeface="Noto Serif SC"/>
                <a:cs typeface="Noto Serif SC"/>
              </a:rPr>
              <a:t>岗位推荐 · 简历改写 · 模拟面试 · 目标岗位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ACF6B9F8-271D-481B-B18C-505E83F471E0}"/>
              </a:ext>
            </a:extLst>
          </p:cNvPr>
          <p:cNvSpPr>
            <a:spLocks noGrp="1"/>
          </p:cNvSpPr>
          <p:nvPr/>
        </p:nvSpPr>
        <p:spPr>
          <a:xfrm>
            <a:off x="533399" y="6038850"/>
            <a:ext cx="2178539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>
              <a:defRPr sz="1050" b="0" i="0">
                <a:solidFill>
                  <a:srgbClr val="7D5411"/>
                </a:solidFill>
                <a:latin typeface="Noto Serif SC"/>
                <a:ea typeface="Noto Serif SC"/>
                <a:cs typeface="Noto Serif SC"/>
              </a:defRPr>
            </a:pPr>
            <a:r>
              <a:rPr lang="en-US" sz="1200" b="0" i="0" dirty="0">
                <a:solidFill>
                  <a:srgbClr val="7D5411"/>
                </a:solidFill>
                <a:latin typeface="Noto Serif SC"/>
                <a:ea typeface="Noto Serif SC"/>
                <a:cs typeface="Noto Serif SC"/>
              </a:rPr>
              <a:t>A</a:t>
            </a:r>
            <a:r>
              <a:rPr lang="zh-CN" altLang="zh-CN" sz="1200" dirty="0">
                <a:solidFill>
                  <a:srgbClr val="7D5411"/>
                </a:solidFill>
                <a:latin typeface="Noto Serif SC"/>
                <a:ea typeface="Noto Serif SC"/>
              </a:rPr>
              <a:t>0326610N Sun Wenjing</a:t>
            </a:r>
          </a:p>
          <a:p>
            <a:pPr>
              <a:defRPr sz="1050" b="0" i="0">
                <a:solidFill>
                  <a:srgbClr val="7D5411"/>
                </a:solidFill>
                <a:latin typeface="Noto Serif SC"/>
                <a:ea typeface="Noto Serif SC"/>
                <a:cs typeface="Noto Serif SC"/>
              </a:defRPr>
            </a:pPr>
            <a:r>
              <a:rPr lang="zh-CN" altLang="zh-CN" sz="1200" dirty="0">
                <a:solidFill>
                  <a:srgbClr val="7D5411"/>
                </a:solidFill>
                <a:latin typeface="Noto Serif SC"/>
                <a:ea typeface="Noto Serif SC"/>
              </a:rPr>
              <a:t>A0329873M</a:t>
            </a:r>
            <a:r>
              <a:rPr lang="en-US" altLang="zh-CN" sz="1200" dirty="0">
                <a:solidFill>
                  <a:srgbClr val="7D5411"/>
                </a:solidFill>
                <a:latin typeface="Noto Serif SC"/>
                <a:ea typeface="Noto Serif SC"/>
              </a:rPr>
              <a:t> </a:t>
            </a:r>
            <a:r>
              <a:rPr lang="zh-CN" altLang="zh-CN" sz="1200" dirty="0">
                <a:solidFill>
                  <a:srgbClr val="7D5411"/>
                </a:solidFill>
                <a:latin typeface="Noto Serif SC"/>
                <a:ea typeface="Noto Serif SC"/>
              </a:rPr>
              <a:t>Zhao Jiayi</a:t>
            </a:r>
            <a:br>
              <a:rPr lang="en-US" sz="1200" dirty="0">
                <a:solidFill>
                  <a:srgbClr val="7D5411"/>
                </a:solidFill>
                <a:latin typeface="Noto Serif SC"/>
                <a:ea typeface="Noto Serif SC"/>
              </a:rPr>
            </a:br>
            <a:r>
              <a:rPr sz="1200" dirty="0">
                <a:solidFill>
                  <a:srgbClr val="7D5411"/>
                </a:solidFill>
                <a:latin typeface="Noto Serif SC"/>
                <a:ea typeface="Noto Serif SC"/>
              </a:rPr>
              <a:t>Group </a:t>
            </a:r>
            <a:r>
              <a:rPr lang="en-US" sz="1200" dirty="0">
                <a:solidFill>
                  <a:srgbClr val="7D5411"/>
                </a:solidFill>
                <a:latin typeface="Noto Serif SC"/>
                <a:ea typeface="Noto Serif SC"/>
              </a:rPr>
              <a:t>28</a:t>
            </a:r>
            <a:endParaRPr sz="1200" dirty="0">
              <a:solidFill>
                <a:srgbClr val="7D5411"/>
              </a:solidFill>
              <a:latin typeface="Noto Serif SC"/>
              <a:ea typeface="Noto Serif SC"/>
            </a:endParaRPr>
          </a:p>
        </p:txBody>
      </p:sp>
      <p:pic>
        <p:nvPicPr>
          <p:cNvPr id="17" name="图片 16">
            <a:extLst>
              <a:ext uri="{FF2B5EF4-FFF2-40B4-BE49-F238E27FC236}">
                <a16:creationId xmlns:a16="http://schemas.microsoft.com/office/drawing/2014/main" id="{64D8867E-EED5-017D-29BB-DA1C2E20708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21666" y="1405580"/>
            <a:ext cx="6517884" cy="3337870"/>
          </a:xfrm>
          <a:prstGeom prst="rect">
            <a:avLst/>
          </a:prstGeom>
          <a:ln w="38100">
            <a:solidFill>
              <a:schemeClr val="bg1"/>
            </a:solidFill>
          </a:ln>
        </p:spPr>
      </p:pic>
    </p:spTree>
    <p:extLst>
      <p:ext uri="{BB962C8B-B14F-4D97-AF65-F5344CB8AC3E}">
        <p14:creationId xmlns:p14="http://schemas.microsoft.com/office/powerpoint/2010/main" val="17592659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矩形 36">
            <a:extLst>
              <a:ext uri="{FF2B5EF4-FFF2-40B4-BE49-F238E27FC236}">
                <a16:creationId xmlns:a16="http://schemas.microsoft.com/office/drawing/2014/main" id="{F60B55B6-414B-4B78-9839-6C9C2F08F3A2}"/>
              </a:ext>
            </a:extLst>
          </p:cNvPr>
          <p:cNvSpPr>
            <a:spLocks noGrp="1"/>
          </p:cNvSpPr>
          <p:nvPr/>
        </p:nvSpPr>
        <p:spPr>
          <a:xfrm>
            <a:off x="533400" y="266700"/>
            <a:ext cx="1714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575" b="1" i="0">
                <a:solidFill>
                  <a:srgbClr val="201F1D"/>
                </a:solidFill>
                <a:latin typeface="Georgia"/>
                <a:ea typeface="Georgia"/>
                <a:cs typeface="Georgia"/>
              </a:defRPr>
            </a:pPr>
            <a:r>
              <a:rPr sz="1575" b="1" i="0">
                <a:solidFill>
                  <a:srgbClr val="201F1D"/>
                </a:solidFill>
                <a:latin typeface="Georgia"/>
                <a:ea typeface="Georgia"/>
                <a:cs typeface="Georgia"/>
              </a:rPr>
              <a:t>CareerPilot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088E1ED0-9EA7-4916-AFD9-22D55A3B5922}"/>
              </a:ext>
            </a:extLst>
          </p:cNvPr>
          <p:cNvSpPr>
            <a:spLocks noGrp="1"/>
          </p:cNvSpPr>
          <p:nvPr/>
        </p:nvSpPr>
        <p:spPr>
          <a:xfrm>
            <a:off x="8572500" y="285750"/>
            <a:ext cx="30861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defRPr sz="975" b="0" i="0">
                <a:solidFill>
                  <a:srgbClr val="7D5411"/>
                </a:solidFill>
                <a:latin typeface="Georgia"/>
                <a:ea typeface="Georgia"/>
                <a:cs typeface="Georgia"/>
              </a:defRPr>
            </a:pPr>
            <a:r>
              <a:rPr sz="975" b="0" i="0">
                <a:solidFill>
                  <a:srgbClr val="7D5411"/>
                </a:solidFill>
                <a:latin typeface="Georgia"/>
                <a:ea typeface="Georgia"/>
                <a:cs typeface="Georgia"/>
              </a:rPr>
              <a:t>PROBLEM</a:t>
            </a:r>
          </a:p>
        </p:txBody>
      </p:sp>
      <p:sp>
        <p:nvSpPr>
          <p:cNvPr id="3" name="直接连接符 2">
            <a:extLst>
              <a:ext uri="{FF2B5EF4-FFF2-40B4-BE49-F238E27FC236}">
                <a16:creationId xmlns:a16="http://schemas.microsoft.com/office/drawing/2014/main" id="{ED6FD74D-EE7D-4B33-A214-52DB0FEF7FDF}"/>
              </a:ext>
            </a:extLst>
          </p:cNvPr>
          <p:cNvSpPr>
            <a:spLocks noGrp="1"/>
          </p:cNvSpPr>
          <p:nvPr/>
        </p:nvSpPr>
        <p:spPr>
          <a:xfrm>
            <a:off x="533400" y="685800"/>
            <a:ext cx="11125200" cy="0"/>
          </a:xfrm>
          <a:prstGeom prst="line">
            <a:avLst/>
          </a:prstGeom>
          <a:noFill/>
          <a:ln w="9525">
            <a:solidFill>
              <a:srgbClr val="C9C5C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095A5C48-8C45-498D-8390-26FF2E269E0F}"/>
              </a:ext>
            </a:extLst>
          </p:cNvPr>
          <p:cNvSpPr>
            <a:spLocks noGrp="1"/>
          </p:cNvSpPr>
          <p:nvPr/>
        </p:nvSpPr>
        <p:spPr>
          <a:xfrm>
            <a:off x="533400" y="914400"/>
            <a:ext cx="106680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3450" b="0" i="0">
                <a:solidFill>
                  <a:srgbClr val="201F1D"/>
                </a:solidFill>
                <a:latin typeface="Noto Serif SC"/>
                <a:ea typeface="Noto Serif SC"/>
                <a:cs typeface="Noto Serif SC"/>
              </a:defRPr>
            </a:pPr>
            <a:r>
              <a:rPr lang="zh-CN" altLang="en-US" sz="3450" b="0" i="0" dirty="0">
                <a:solidFill>
                  <a:srgbClr val="201F1D"/>
                </a:solidFill>
                <a:latin typeface="Noto Serif SC"/>
                <a:ea typeface="Noto Serif SC"/>
                <a:cs typeface="Noto Serif SC"/>
              </a:rPr>
              <a:t>词云</a:t>
            </a:r>
            <a:endParaRPr sz="3450" b="0" i="0" dirty="0">
              <a:solidFill>
                <a:srgbClr val="201F1D"/>
              </a:solidFill>
              <a:latin typeface="Noto Serif SC"/>
              <a:ea typeface="Noto Serif SC"/>
              <a:cs typeface="Noto Serif SC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36E8485-E374-4466-AB64-786F4E7FE6AB}"/>
              </a:ext>
            </a:extLst>
          </p:cNvPr>
          <p:cNvSpPr>
            <a:spLocks noGrp="1"/>
          </p:cNvSpPr>
          <p:nvPr/>
        </p:nvSpPr>
        <p:spPr>
          <a:xfrm>
            <a:off x="11182350" y="6305550"/>
            <a:ext cx="476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defRPr sz="1125" b="0" i="0">
                <a:solidFill>
                  <a:srgbClr val="B68235"/>
                </a:solidFill>
                <a:latin typeface="Georgia"/>
                <a:ea typeface="Georgia"/>
                <a:cs typeface="Georgia"/>
              </a:defRPr>
            </a:pPr>
            <a:r>
              <a:rPr sz="1125" b="0" i="0" dirty="0">
                <a:solidFill>
                  <a:srgbClr val="B68235"/>
                </a:solidFill>
                <a:latin typeface="Georgia"/>
                <a:ea typeface="Georgia"/>
                <a:cs typeface="Georgia"/>
              </a:rPr>
              <a:t>02</a:t>
            </a:r>
          </a:p>
        </p:txBody>
      </p:sp>
      <p:pic>
        <p:nvPicPr>
          <p:cNvPr id="39" name="图片 38">
            <a:extLst>
              <a:ext uri="{FF2B5EF4-FFF2-40B4-BE49-F238E27FC236}">
                <a16:creationId xmlns:a16="http://schemas.microsoft.com/office/drawing/2014/main" id="{261CCAA8-ADA0-9B20-68A2-7718FC080E7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33550" y="1512094"/>
            <a:ext cx="8724900" cy="49077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21341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2F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E940CAA-1396-251D-20FE-B285A1AA5A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矩形 36">
            <a:extLst>
              <a:ext uri="{FF2B5EF4-FFF2-40B4-BE49-F238E27FC236}">
                <a16:creationId xmlns:a16="http://schemas.microsoft.com/office/drawing/2014/main" id="{FBA072F2-A6DC-2432-A99D-BBD5679EA247}"/>
              </a:ext>
            </a:extLst>
          </p:cNvPr>
          <p:cNvSpPr>
            <a:spLocks noGrp="1"/>
          </p:cNvSpPr>
          <p:nvPr/>
        </p:nvSpPr>
        <p:spPr>
          <a:xfrm>
            <a:off x="533400" y="266700"/>
            <a:ext cx="1714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575" b="1" i="0">
                <a:solidFill>
                  <a:srgbClr val="201F1D"/>
                </a:solidFill>
                <a:latin typeface="Georgia"/>
                <a:ea typeface="Georgia"/>
                <a:cs typeface="Georgia"/>
              </a:defRPr>
            </a:pPr>
            <a:r>
              <a:rPr sz="1575" b="1" i="0">
                <a:solidFill>
                  <a:srgbClr val="201F1D"/>
                </a:solidFill>
                <a:latin typeface="Georgia"/>
                <a:ea typeface="Georgia"/>
                <a:cs typeface="Georgia"/>
              </a:rPr>
              <a:t>CareerPilot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D2381B4A-47FA-6F52-C44A-B5CA38BB8631}"/>
              </a:ext>
            </a:extLst>
          </p:cNvPr>
          <p:cNvSpPr>
            <a:spLocks noGrp="1"/>
          </p:cNvSpPr>
          <p:nvPr/>
        </p:nvSpPr>
        <p:spPr>
          <a:xfrm>
            <a:off x="8572500" y="285750"/>
            <a:ext cx="30861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defRPr sz="975" b="0" i="0">
                <a:solidFill>
                  <a:srgbClr val="7D5411"/>
                </a:solidFill>
                <a:latin typeface="Georgia"/>
                <a:ea typeface="Georgia"/>
                <a:cs typeface="Georgia"/>
              </a:defRPr>
            </a:pPr>
            <a:r>
              <a:rPr sz="975" b="0" i="0">
                <a:solidFill>
                  <a:srgbClr val="7D5411"/>
                </a:solidFill>
                <a:latin typeface="Georgia"/>
                <a:ea typeface="Georgia"/>
                <a:cs typeface="Georgia"/>
              </a:rPr>
              <a:t>PROBLEM</a:t>
            </a:r>
          </a:p>
        </p:txBody>
      </p:sp>
      <p:sp>
        <p:nvSpPr>
          <p:cNvPr id="3" name="直接连接符 2">
            <a:extLst>
              <a:ext uri="{FF2B5EF4-FFF2-40B4-BE49-F238E27FC236}">
                <a16:creationId xmlns:a16="http://schemas.microsoft.com/office/drawing/2014/main" id="{8E6EB306-A219-D230-3DA3-7A0F838F6A2C}"/>
              </a:ext>
            </a:extLst>
          </p:cNvPr>
          <p:cNvSpPr>
            <a:spLocks noGrp="1"/>
          </p:cNvSpPr>
          <p:nvPr/>
        </p:nvSpPr>
        <p:spPr>
          <a:xfrm>
            <a:off x="533400" y="685800"/>
            <a:ext cx="11125200" cy="0"/>
          </a:xfrm>
          <a:prstGeom prst="line">
            <a:avLst/>
          </a:prstGeom>
          <a:noFill/>
          <a:ln w="9525">
            <a:solidFill>
              <a:srgbClr val="C9C5C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FE901369-EB43-5EE3-90BA-1E2B489A94A9}"/>
              </a:ext>
            </a:extLst>
          </p:cNvPr>
          <p:cNvSpPr>
            <a:spLocks noGrp="1"/>
          </p:cNvSpPr>
          <p:nvPr/>
        </p:nvSpPr>
        <p:spPr>
          <a:xfrm>
            <a:off x="533400" y="914400"/>
            <a:ext cx="106680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3450" b="0" i="0">
                <a:solidFill>
                  <a:srgbClr val="201F1D"/>
                </a:solidFill>
                <a:latin typeface="Noto Serif SC"/>
                <a:ea typeface="Noto Serif SC"/>
                <a:cs typeface="Noto Serif SC"/>
              </a:defRPr>
            </a:pPr>
            <a:r>
              <a:rPr lang="en-US" altLang="zh-CN" sz="3450" dirty="0">
                <a:solidFill>
                  <a:srgbClr val="201F1D"/>
                </a:solidFill>
                <a:latin typeface="Noto Serif SC"/>
                <a:ea typeface="Noto Serif SC"/>
                <a:cs typeface="Noto Serif SC"/>
              </a:rPr>
              <a:t>persona</a:t>
            </a:r>
            <a:endParaRPr sz="3450" b="0" i="0" dirty="0">
              <a:solidFill>
                <a:srgbClr val="201F1D"/>
              </a:solidFill>
              <a:latin typeface="Noto Serif SC"/>
              <a:ea typeface="Noto Serif SC"/>
              <a:cs typeface="Noto Serif SC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225C38AC-C8B4-F11A-BD98-C7D63911E652}"/>
              </a:ext>
            </a:extLst>
          </p:cNvPr>
          <p:cNvSpPr>
            <a:spLocks noGrp="1"/>
          </p:cNvSpPr>
          <p:nvPr/>
        </p:nvSpPr>
        <p:spPr>
          <a:xfrm>
            <a:off x="11182350" y="6305550"/>
            <a:ext cx="476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defRPr sz="1125" b="0" i="0">
                <a:solidFill>
                  <a:srgbClr val="B68235"/>
                </a:solidFill>
                <a:latin typeface="Georgia"/>
                <a:ea typeface="Georgia"/>
                <a:cs typeface="Georgia"/>
              </a:defRPr>
            </a:pPr>
            <a:r>
              <a:rPr sz="1125" b="0" i="0" dirty="0">
                <a:solidFill>
                  <a:srgbClr val="B68235"/>
                </a:solidFill>
                <a:latin typeface="Georgia"/>
                <a:ea typeface="Georgia"/>
                <a:cs typeface="Georgia"/>
              </a:rPr>
              <a:t>02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01CA8F85-700F-44F4-A9A9-1501EF2DB6F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45138" y="1526931"/>
            <a:ext cx="8901723" cy="50072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89368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>
            <a:extLst>
              <a:ext uri="{FF2B5EF4-FFF2-40B4-BE49-F238E27FC236}">
                <a16:creationId xmlns:a16="http://schemas.microsoft.com/office/drawing/2014/main" id="{363387E2-2468-40EE-8559-EC14371BC8B4}"/>
              </a:ext>
            </a:extLst>
          </p:cNvPr>
          <p:cNvSpPr>
            <a:spLocks noGrp="1"/>
          </p:cNvSpPr>
          <p:nvPr/>
        </p:nvSpPr>
        <p:spPr>
          <a:xfrm>
            <a:off x="533400" y="266700"/>
            <a:ext cx="1714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575" b="1" i="0">
                <a:solidFill>
                  <a:srgbClr val="201F1D"/>
                </a:solidFill>
                <a:latin typeface="Georgia"/>
                <a:ea typeface="Georgia"/>
                <a:cs typeface="Georgia"/>
              </a:defRPr>
            </a:pPr>
            <a:r>
              <a:rPr sz="1575" b="1" i="0">
                <a:solidFill>
                  <a:srgbClr val="201F1D"/>
                </a:solidFill>
                <a:latin typeface="Georgia"/>
                <a:ea typeface="Georgia"/>
                <a:cs typeface="Georgia"/>
              </a:rPr>
              <a:t>CareerPilot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784847AD-4E95-4319-AC64-05BC43BB9043}"/>
              </a:ext>
            </a:extLst>
          </p:cNvPr>
          <p:cNvSpPr>
            <a:spLocks noGrp="1"/>
          </p:cNvSpPr>
          <p:nvPr/>
        </p:nvSpPr>
        <p:spPr>
          <a:xfrm>
            <a:off x="8572500" y="285750"/>
            <a:ext cx="30861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defRPr sz="975" b="0" i="0">
                <a:solidFill>
                  <a:srgbClr val="7D5411"/>
                </a:solidFill>
                <a:latin typeface="Georgia"/>
                <a:ea typeface="Georgia"/>
                <a:cs typeface="Georgia"/>
              </a:defRPr>
            </a:pPr>
            <a:r>
              <a:rPr sz="975" b="0" i="0">
                <a:solidFill>
                  <a:srgbClr val="7D5411"/>
                </a:solidFill>
                <a:latin typeface="Georgia"/>
                <a:ea typeface="Georgia"/>
                <a:cs typeface="Georgia"/>
              </a:rPr>
              <a:t>MARKET GAP</a:t>
            </a:r>
          </a:p>
        </p:txBody>
      </p:sp>
      <p:sp>
        <p:nvSpPr>
          <p:cNvPr id="3" name="直接连接符 2">
            <a:extLst>
              <a:ext uri="{FF2B5EF4-FFF2-40B4-BE49-F238E27FC236}">
                <a16:creationId xmlns:a16="http://schemas.microsoft.com/office/drawing/2014/main" id="{0BD03420-606E-4D6E-9A9D-C6BC90236407}"/>
              </a:ext>
            </a:extLst>
          </p:cNvPr>
          <p:cNvSpPr>
            <a:spLocks noGrp="1"/>
          </p:cNvSpPr>
          <p:nvPr/>
        </p:nvSpPr>
        <p:spPr>
          <a:xfrm>
            <a:off x="533400" y="685800"/>
            <a:ext cx="11125200" cy="0"/>
          </a:xfrm>
          <a:prstGeom prst="line">
            <a:avLst/>
          </a:prstGeom>
          <a:noFill/>
          <a:ln w="9525">
            <a:solidFill>
              <a:srgbClr val="C9C5C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8B5C5B94-D490-423E-930A-7763BF39B387}"/>
              </a:ext>
            </a:extLst>
          </p:cNvPr>
          <p:cNvSpPr>
            <a:spLocks noGrp="1"/>
          </p:cNvSpPr>
          <p:nvPr/>
        </p:nvSpPr>
        <p:spPr>
          <a:xfrm>
            <a:off x="533400" y="914400"/>
            <a:ext cx="106680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3450" b="0" i="0">
                <a:solidFill>
                  <a:srgbClr val="201F1D"/>
                </a:solidFill>
                <a:latin typeface="Noto Serif SC"/>
                <a:ea typeface="Noto Serif SC"/>
                <a:cs typeface="Noto Serif SC"/>
              </a:defRPr>
            </a:pPr>
            <a:r>
              <a:rPr sz="3450" b="0" i="0">
                <a:solidFill>
                  <a:srgbClr val="201F1D"/>
                </a:solidFill>
                <a:latin typeface="Noto Serif SC"/>
                <a:ea typeface="Noto Serif SC"/>
                <a:cs typeface="Noto Serif SC"/>
              </a:rPr>
              <a:t>现有工具覆盖局部环节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5BE5E922-65A6-4786-A2B3-95A3DB415516}"/>
              </a:ext>
            </a:extLst>
          </p:cNvPr>
          <p:cNvSpPr>
            <a:spLocks noGrp="1"/>
          </p:cNvSpPr>
          <p:nvPr/>
        </p:nvSpPr>
        <p:spPr>
          <a:xfrm>
            <a:off x="11182350" y="6305550"/>
            <a:ext cx="476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defRPr sz="1125" b="0" i="0">
                <a:solidFill>
                  <a:srgbClr val="B68235"/>
                </a:solidFill>
                <a:latin typeface="Georgia"/>
                <a:ea typeface="Georgia"/>
                <a:cs typeface="Georgia"/>
              </a:defRPr>
            </a:pPr>
            <a:r>
              <a:rPr sz="1125" b="0" i="0">
                <a:solidFill>
                  <a:srgbClr val="B68235"/>
                </a:solidFill>
                <a:latin typeface="Georgia"/>
                <a:ea typeface="Georgia"/>
                <a:cs typeface="Georgia"/>
              </a:rPr>
              <a:t>03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5667101E-7863-446E-A3B5-45958E453943}"/>
              </a:ext>
            </a:extLst>
          </p:cNvPr>
          <p:cNvSpPr>
            <a:spLocks noGrp="1"/>
          </p:cNvSpPr>
          <p:nvPr/>
        </p:nvSpPr>
        <p:spPr>
          <a:xfrm>
            <a:off x="552450" y="1524000"/>
            <a:ext cx="10287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500" b="0" i="0">
                <a:solidFill>
                  <a:srgbClr val="666160"/>
                </a:solidFill>
                <a:latin typeface="Noto Serif SC"/>
                <a:ea typeface="Noto Serif SC"/>
                <a:cs typeface="Noto Serif SC"/>
              </a:defRPr>
            </a:pPr>
            <a:r>
              <a:rPr sz="1500" b="0" i="0" dirty="0" err="1">
                <a:solidFill>
                  <a:srgbClr val="666160"/>
                </a:solidFill>
                <a:latin typeface="Noto Serif SC"/>
                <a:ea typeface="Noto Serif SC"/>
                <a:cs typeface="Noto Serif SC"/>
              </a:rPr>
              <a:t>招聘平台、简历工具与自动申请工具各自解决一个问题，但缺少面向学生的可解释闭环</a:t>
            </a:r>
            <a:endParaRPr sz="1500" b="0" i="0" dirty="0">
              <a:solidFill>
                <a:srgbClr val="666160"/>
              </a:solidFill>
              <a:latin typeface="Noto Serif SC"/>
              <a:ea typeface="Noto Serif SC"/>
              <a:cs typeface="Noto Serif SC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96157092-3AFD-45B6-93CC-54E0011CD33B}"/>
              </a:ext>
            </a:extLst>
          </p:cNvPr>
          <p:cNvSpPr>
            <a:spLocks noGrp="1"/>
          </p:cNvSpPr>
          <p:nvPr/>
        </p:nvSpPr>
        <p:spPr>
          <a:xfrm>
            <a:off x="2400300" y="2000250"/>
            <a:ext cx="16764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200" b="1" i="0">
                <a:solidFill>
                  <a:srgbClr val="7D5411"/>
                </a:solidFill>
                <a:latin typeface="Noto Serif SC"/>
                <a:ea typeface="Noto Serif SC"/>
                <a:cs typeface="Noto Serif SC"/>
              </a:defRPr>
            </a:pPr>
            <a:r>
              <a:rPr sz="1200" b="1" i="0">
                <a:solidFill>
                  <a:srgbClr val="7D5411"/>
                </a:solidFill>
                <a:latin typeface="Noto Serif SC"/>
                <a:ea typeface="Noto Serif SC"/>
                <a:cs typeface="Noto Serif SC"/>
              </a:rPr>
              <a:t>岗位发现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1859BB22-36E6-431F-9E62-8BF3E9BE569F}"/>
              </a:ext>
            </a:extLst>
          </p:cNvPr>
          <p:cNvSpPr>
            <a:spLocks noGrp="1"/>
          </p:cNvSpPr>
          <p:nvPr/>
        </p:nvSpPr>
        <p:spPr>
          <a:xfrm>
            <a:off x="4076700" y="2000250"/>
            <a:ext cx="16764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200" b="1" i="0">
                <a:solidFill>
                  <a:srgbClr val="7D5411"/>
                </a:solidFill>
                <a:latin typeface="Noto Serif SC"/>
                <a:ea typeface="Noto Serif SC"/>
                <a:cs typeface="Noto Serif SC"/>
              </a:defRPr>
            </a:pPr>
            <a:r>
              <a:rPr sz="1200" b="1" i="0">
                <a:solidFill>
                  <a:srgbClr val="7D5411"/>
                </a:solidFill>
                <a:latin typeface="Noto Serif SC"/>
                <a:ea typeface="Noto Serif SC"/>
                <a:cs typeface="Noto Serif SC"/>
              </a:rPr>
              <a:t>匹配解释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42240E93-1324-4F09-BEC5-A6B1DAF313E8}"/>
              </a:ext>
            </a:extLst>
          </p:cNvPr>
          <p:cNvSpPr>
            <a:spLocks noGrp="1"/>
          </p:cNvSpPr>
          <p:nvPr/>
        </p:nvSpPr>
        <p:spPr>
          <a:xfrm>
            <a:off x="5753100" y="2000250"/>
            <a:ext cx="16764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200" b="1" i="0">
                <a:solidFill>
                  <a:srgbClr val="7D5411"/>
                </a:solidFill>
                <a:latin typeface="Noto Serif SC"/>
                <a:ea typeface="Noto Serif SC"/>
                <a:cs typeface="Noto Serif SC"/>
              </a:defRPr>
            </a:pPr>
            <a:r>
              <a:rPr sz="1200" b="1" i="0">
                <a:solidFill>
                  <a:srgbClr val="7D5411"/>
                </a:solidFill>
                <a:latin typeface="Noto Serif SC"/>
                <a:ea typeface="Noto Serif SC"/>
                <a:cs typeface="Noto Serif SC"/>
              </a:rPr>
              <a:t>JD 简历优化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75C8CFAC-F4E5-49FF-A28F-46295B85466A}"/>
              </a:ext>
            </a:extLst>
          </p:cNvPr>
          <p:cNvSpPr>
            <a:spLocks noGrp="1"/>
          </p:cNvSpPr>
          <p:nvPr/>
        </p:nvSpPr>
        <p:spPr>
          <a:xfrm>
            <a:off x="7429500" y="2000250"/>
            <a:ext cx="16764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200" b="1" i="0">
                <a:solidFill>
                  <a:srgbClr val="7D5411"/>
                </a:solidFill>
                <a:latin typeface="Noto Serif SC"/>
                <a:ea typeface="Noto Serif SC"/>
                <a:cs typeface="Noto Serif SC"/>
              </a:defRPr>
            </a:pPr>
            <a:r>
              <a:rPr sz="1200" b="1" i="0">
                <a:solidFill>
                  <a:srgbClr val="7D5411"/>
                </a:solidFill>
                <a:latin typeface="Noto Serif SC"/>
                <a:ea typeface="Noto Serif SC"/>
                <a:cs typeface="Noto Serif SC"/>
              </a:rPr>
              <a:t>面试准备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827B59D1-B68F-4A7D-A533-B391A614CD90}"/>
              </a:ext>
            </a:extLst>
          </p:cNvPr>
          <p:cNvSpPr>
            <a:spLocks noGrp="1"/>
          </p:cNvSpPr>
          <p:nvPr/>
        </p:nvSpPr>
        <p:spPr>
          <a:xfrm>
            <a:off x="9105900" y="2000250"/>
            <a:ext cx="16764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200" b="1" i="0">
                <a:solidFill>
                  <a:srgbClr val="7D5411"/>
                </a:solidFill>
                <a:latin typeface="Noto Serif SC"/>
                <a:ea typeface="Noto Serif SC"/>
                <a:cs typeface="Noto Serif SC"/>
              </a:defRPr>
            </a:pPr>
            <a:r>
              <a:rPr sz="1200" b="1" i="0">
                <a:solidFill>
                  <a:srgbClr val="7D5411"/>
                </a:solidFill>
                <a:latin typeface="Noto Serif SC"/>
                <a:ea typeface="Noto Serif SC"/>
                <a:cs typeface="Noto Serif SC"/>
              </a:rPr>
              <a:t>进度建议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BB60357E-F809-4CEF-A459-D51CC4F0AC0B}"/>
              </a:ext>
            </a:extLst>
          </p:cNvPr>
          <p:cNvSpPr>
            <a:spLocks noGrp="1"/>
          </p:cNvSpPr>
          <p:nvPr/>
        </p:nvSpPr>
        <p:spPr>
          <a:xfrm>
            <a:off x="666750" y="2362200"/>
            <a:ext cx="16002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500" b="0" i="0">
                <a:solidFill>
                  <a:srgbClr val="201F1D"/>
                </a:solidFill>
                <a:latin typeface="Noto Serif SC"/>
                <a:ea typeface="Noto Serif SC"/>
                <a:cs typeface="Noto Serif SC"/>
              </a:defRPr>
            </a:pPr>
            <a:r>
              <a:rPr sz="1500" b="0" i="0">
                <a:solidFill>
                  <a:srgbClr val="201F1D"/>
                </a:solidFill>
                <a:latin typeface="Noto Serif SC"/>
                <a:ea typeface="Noto Serif SC"/>
                <a:cs typeface="Noto Serif SC"/>
              </a:rPr>
              <a:t>招聘平台</a:t>
            </a:r>
          </a:p>
        </p:txBody>
      </p:sp>
      <p:sp>
        <p:nvSpPr>
          <p:cNvPr id="13" name="椭圆 12">
            <a:extLst>
              <a:ext uri="{FF2B5EF4-FFF2-40B4-BE49-F238E27FC236}">
                <a16:creationId xmlns:a16="http://schemas.microsoft.com/office/drawing/2014/main" id="{3A6A06D8-60BF-45AC-9D92-18AFAA47C796}"/>
              </a:ext>
            </a:extLst>
          </p:cNvPr>
          <p:cNvSpPr>
            <a:spLocks noGrp="1"/>
          </p:cNvSpPr>
          <p:nvPr/>
        </p:nvSpPr>
        <p:spPr>
          <a:xfrm>
            <a:off x="3114675" y="2381250"/>
            <a:ext cx="190500" cy="190500"/>
          </a:xfrm>
          <a:prstGeom prst="ellipse">
            <a:avLst/>
          </a:prstGeom>
          <a:solidFill>
            <a:srgbClr val="B68235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椭圆 13">
            <a:extLst>
              <a:ext uri="{FF2B5EF4-FFF2-40B4-BE49-F238E27FC236}">
                <a16:creationId xmlns:a16="http://schemas.microsoft.com/office/drawing/2014/main" id="{A156A49C-D415-48A7-8B35-133662544E82}"/>
              </a:ext>
            </a:extLst>
          </p:cNvPr>
          <p:cNvSpPr>
            <a:spLocks noGrp="1"/>
          </p:cNvSpPr>
          <p:nvPr/>
        </p:nvSpPr>
        <p:spPr>
          <a:xfrm>
            <a:off x="4791075" y="2381250"/>
            <a:ext cx="190500" cy="190500"/>
          </a:xfrm>
          <a:prstGeom prst="ellipse">
            <a:avLst/>
          </a:prstGeom>
          <a:solidFill>
            <a:srgbClr val="F3F2F2"/>
          </a:solidFill>
          <a:ln w="14288">
            <a:solidFill>
              <a:srgbClr val="C9C5C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椭圆 14">
            <a:extLst>
              <a:ext uri="{FF2B5EF4-FFF2-40B4-BE49-F238E27FC236}">
                <a16:creationId xmlns:a16="http://schemas.microsoft.com/office/drawing/2014/main" id="{7AC20A14-185A-43FC-B55C-1342E59FB460}"/>
              </a:ext>
            </a:extLst>
          </p:cNvPr>
          <p:cNvSpPr>
            <a:spLocks noGrp="1"/>
          </p:cNvSpPr>
          <p:nvPr/>
        </p:nvSpPr>
        <p:spPr>
          <a:xfrm>
            <a:off x="6467475" y="2381250"/>
            <a:ext cx="190500" cy="190500"/>
          </a:xfrm>
          <a:prstGeom prst="ellipse">
            <a:avLst/>
          </a:prstGeom>
          <a:solidFill>
            <a:srgbClr val="F3F2F2"/>
          </a:solidFill>
          <a:ln w="14288">
            <a:solidFill>
              <a:srgbClr val="C9C5C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椭圆 15">
            <a:extLst>
              <a:ext uri="{FF2B5EF4-FFF2-40B4-BE49-F238E27FC236}">
                <a16:creationId xmlns:a16="http://schemas.microsoft.com/office/drawing/2014/main" id="{08964FA3-64B5-49AC-B36A-9E8D41CF7F4E}"/>
              </a:ext>
            </a:extLst>
          </p:cNvPr>
          <p:cNvSpPr>
            <a:spLocks noGrp="1"/>
          </p:cNvSpPr>
          <p:nvPr/>
        </p:nvSpPr>
        <p:spPr>
          <a:xfrm>
            <a:off x="8143875" y="2381250"/>
            <a:ext cx="190500" cy="190500"/>
          </a:xfrm>
          <a:prstGeom prst="ellipse">
            <a:avLst/>
          </a:prstGeom>
          <a:solidFill>
            <a:srgbClr val="F3F2F2"/>
          </a:solidFill>
          <a:ln w="14288">
            <a:solidFill>
              <a:srgbClr val="C9C5C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椭圆 16">
            <a:extLst>
              <a:ext uri="{FF2B5EF4-FFF2-40B4-BE49-F238E27FC236}">
                <a16:creationId xmlns:a16="http://schemas.microsoft.com/office/drawing/2014/main" id="{BA7D2885-C422-482B-9A84-8B2C2BD06D5B}"/>
              </a:ext>
            </a:extLst>
          </p:cNvPr>
          <p:cNvSpPr>
            <a:spLocks noGrp="1"/>
          </p:cNvSpPr>
          <p:nvPr/>
        </p:nvSpPr>
        <p:spPr>
          <a:xfrm>
            <a:off x="9820275" y="2381250"/>
            <a:ext cx="190500" cy="190500"/>
          </a:xfrm>
          <a:prstGeom prst="ellipse">
            <a:avLst/>
          </a:prstGeom>
          <a:solidFill>
            <a:srgbClr val="F3F2F2"/>
          </a:solidFill>
          <a:ln w="14288">
            <a:solidFill>
              <a:srgbClr val="C9C5C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直接连接符 17">
            <a:extLst>
              <a:ext uri="{FF2B5EF4-FFF2-40B4-BE49-F238E27FC236}">
                <a16:creationId xmlns:a16="http://schemas.microsoft.com/office/drawing/2014/main" id="{2B281CB6-087C-421D-8BDF-FB08D6C51A1B}"/>
              </a:ext>
            </a:extLst>
          </p:cNvPr>
          <p:cNvSpPr>
            <a:spLocks noGrp="1"/>
          </p:cNvSpPr>
          <p:nvPr/>
        </p:nvSpPr>
        <p:spPr>
          <a:xfrm>
            <a:off x="533400" y="2876550"/>
            <a:ext cx="11125200" cy="0"/>
          </a:xfrm>
          <a:prstGeom prst="line">
            <a:avLst/>
          </a:prstGeom>
          <a:noFill/>
          <a:ln w="9525">
            <a:solidFill>
              <a:srgbClr val="C9C5C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E8E66DBE-29D7-462C-BE8D-613D32D041CA}"/>
              </a:ext>
            </a:extLst>
          </p:cNvPr>
          <p:cNvSpPr>
            <a:spLocks noGrp="1"/>
          </p:cNvSpPr>
          <p:nvPr/>
        </p:nvSpPr>
        <p:spPr>
          <a:xfrm>
            <a:off x="666750" y="3067050"/>
            <a:ext cx="16002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500" b="0" i="0">
                <a:solidFill>
                  <a:srgbClr val="201F1D"/>
                </a:solidFill>
                <a:latin typeface="Noto Serif SC"/>
                <a:ea typeface="Noto Serif SC"/>
                <a:cs typeface="Noto Serif SC"/>
              </a:defRPr>
            </a:pPr>
            <a:r>
              <a:rPr sz="1500" b="0" i="0">
                <a:solidFill>
                  <a:srgbClr val="201F1D"/>
                </a:solidFill>
                <a:latin typeface="Noto Serif SC"/>
                <a:ea typeface="Noto Serif SC"/>
                <a:cs typeface="Noto Serif SC"/>
              </a:rPr>
              <a:t>简历优化工具</a:t>
            </a:r>
          </a:p>
        </p:txBody>
      </p:sp>
      <p:sp>
        <p:nvSpPr>
          <p:cNvPr id="20" name="椭圆 19">
            <a:extLst>
              <a:ext uri="{FF2B5EF4-FFF2-40B4-BE49-F238E27FC236}">
                <a16:creationId xmlns:a16="http://schemas.microsoft.com/office/drawing/2014/main" id="{C4EC31DC-EABB-4178-94B7-65635D010CD2}"/>
              </a:ext>
            </a:extLst>
          </p:cNvPr>
          <p:cNvSpPr>
            <a:spLocks noGrp="1"/>
          </p:cNvSpPr>
          <p:nvPr/>
        </p:nvSpPr>
        <p:spPr>
          <a:xfrm>
            <a:off x="3114675" y="3086100"/>
            <a:ext cx="190500" cy="190500"/>
          </a:xfrm>
          <a:prstGeom prst="ellipse">
            <a:avLst/>
          </a:prstGeom>
          <a:solidFill>
            <a:srgbClr val="F3F2F2"/>
          </a:solidFill>
          <a:ln w="14288">
            <a:solidFill>
              <a:srgbClr val="C9C5C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" name="椭圆 20">
            <a:extLst>
              <a:ext uri="{FF2B5EF4-FFF2-40B4-BE49-F238E27FC236}">
                <a16:creationId xmlns:a16="http://schemas.microsoft.com/office/drawing/2014/main" id="{A72FF3B0-107C-4458-A820-9EAD8114C160}"/>
              </a:ext>
            </a:extLst>
          </p:cNvPr>
          <p:cNvSpPr>
            <a:spLocks noGrp="1"/>
          </p:cNvSpPr>
          <p:nvPr/>
        </p:nvSpPr>
        <p:spPr>
          <a:xfrm>
            <a:off x="4791075" y="3086100"/>
            <a:ext cx="190500" cy="190500"/>
          </a:xfrm>
          <a:prstGeom prst="ellipse">
            <a:avLst/>
          </a:prstGeom>
          <a:solidFill>
            <a:srgbClr val="F3F2F2"/>
          </a:solidFill>
          <a:ln w="14288">
            <a:solidFill>
              <a:srgbClr val="C9C5C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椭圆 21">
            <a:extLst>
              <a:ext uri="{FF2B5EF4-FFF2-40B4-BE49-F238E27FC236}">
                <a16:creationId xmlns:a16="http://schemas.microsoft.com/office/drawing/2014/main" id="{8B3A641F-4D61-49AC-A2D3-0D20F667331B}"/>
              </a:ext>
            </a:extLst>
          </p:cNvPr>
          <p:cNvSpPr>
            <a:spLocks noGrp="1"/>
          </p:cNvSpPr>
          <p:nvPr/>
        </p:nvSpPr>
        <p:spPr>
          <a:xfrm>
            <a:off x="6467475" y="3086100"/>
            <a:ext cx="190500" cy="190500"/>
          </a:xfrm>
          <a:prstGeom prst="ellipse">
            <a:avLst/>
          </a:prstGeom>
          <a:solidFill>
            <a:srgbClr val="B68235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" name="椭圆 22">
            <a:extLst>
              <a:ext uri="{FF2B5EF4-FFF2-40B4-BE49-F238E27FC236}">
                <a16:creationId xmlns:a16="http://schemas.microsoft.com/office/drawing/2014/main" id="{AB5269FD-8016-4131-98CE-D406AA869C04}"/>
              </a:ext>
            </a:extLst>
          </p:cNvPr>
          <p:cNvSpPr>
            <a:spLocks noGrp="1"/>
          </p:cNvSpPr>
          <p:nvPr/>
        </p:nvSpPr>
        <p:spPr>
          <a:xfrm>
            <a:off x="8143875" y="3086100"/>
            <a:ext cx="190500" cy="190500"/>
          </a:xfrm>
          <a:prstGeom prst="ellipse">
            <a:avLst/>
          </a:prstGeom>
          <a:solidFill>
            <a:srgbClr val="F3F2F2"/>
          </a:solidFill>
          <a:ln w="14288">
            <a:solidFill>
              <a:srgbClr val="C9C5C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4" name="椭圆 23">
            <a:extLst>
              <a:ext uri="{FF2B5EF4-FFF2-40B4-BE49-F238E27FC236}">
                <a16:creationId xmlns:a16="http://schemas.microsoft.com/office/drawing/2014/main" id="{B5E3C0B1-1A7B-42CD-8FAA-8D58EB2A018E}"/>
              </a:ext>
            </a:extLst>
          </p:cNvPr>
          <p:cNvSpPr>
            <a:spLocks noGrp="1"/>
          </p:cNvSpPr>
          <p:nvPr/>
        </p:nvSpPr>
        <p:spPr>
          <a:xfrm>
            <a:off x="9820275" y="3086100"/>
            <a:ext cx="190500" cy="190500"/>
          </a:xfrm>
          <a:prstGeom prst="ellipse">
            <a:avLst/>
          </a:prstGeom>
          <a:solidFill>
            <a:srgbClr val="F3F2F2"/>
          </a:solidFill>
          <a:ln w="14288">
            <a:solidFill>
              <a:srgbClr val="C9C5C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" name="直接连接符 24">
            <a:extLst>
              <a:ext uri="{FF2B5EF4-FFF2-40B4-BE49-F238E27FC236}">
                <a16:creationId xmlns:a16="http://schemas.microsoft.com/office/drawing/2014/main" id="{52B93C40-7C95-41BC-BA0D-8993E0178D36}"/>
              </a:ext>
            </a:extLst>
          </p:cNvPr>
          <p:cNvSpPr>
            <a:spLocks noGrp="1"/>
          </p:cNvSpPr>
          <p:nvPr/>
        </p:nvSpPr>
        <p:spPr>
          <a:xfrm>
            <a:off x="533400" y="3581400"/>
            <a:ext cx="11125200" cy="0"/>
          </a:xfrm>
          <a:prstGeom prst="line">
            <a:avLst/>
          </a:prstGeom>
          <a:noFill/>
          <a:ln w="9525">
            <a:solidFill>
              <a:srgbClr val="C9C5C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2A832FF7-837F-4D31-8868-E6144B1C2AD9}"/>
              </a:ext>
            </a:extLst>
          </p:cNvPr>
          <p:cNvSpPr>
            <a:spLocks noGrp="1"/>
          </p:cNvSpPr>
          <p:nvPr/>
        </p:nvSpPr>
        <p:spPr>
          <a:xfrm>
            <a:off x="666750" y="3771900"/>
            <a:ext cx="16002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500" b="0" i="0">
                <a:solidFill>
                  <a:srgbClr val="201F1D"/>
                </a:solidFill>
                <a:latin typeface="Noto Serif SC"/>
                <a:ea typeface="Noto Serif SC"/>
                <a:cs typeface="Noto Serif SC"/>
              </a:defRPr>
            </a:pPr>
            <a:r>
              <a:rPr sz="1500" b="0" i="0">
                <a:solidFill>
                  <a:srgbClr val="201F1D"/>
                </a:solidFill>
                <a:latin typeface="Noto Serif SC"/>
                <a:ea typeface="Noto Serif SC"/>
                <a:cs typeface="Noto Serif SC"/>
              </a:rPr>
              <a:t>自动申请工具</a:t>
            </a:r>
          </a:p>
        </p:txBody>
      </p:sp>
      <p:sp>
        <p:nvSpPr>
          <p:cNvPr id="27" name="椭圆 26">
            <a:extLst>
              <a:ext uri="{FF2B5EF4-FFF2-40B4-BE49-F238E27FC236}">
                <a16:creationId xmlns:a16="http://schemas.microsoft.com/office/drawing/2014/main" id="{D6221F08-7EA4-443B-9C0F-5794FDDCC208}"/>
              </a:ext>
            </a:extLst>
          </p:cNvPr>
          <p:cNvSpPr>
            <a:spLocks noGrp="1"/>
          </p:cNvSpPr>
          <p:nvPr/>
        </p:nvSpPr>
        <p:spPr>
          <a:xfrm>
            <a:off x="3114675" y="3790950"/>
            <a:ext cx="190500" cy="190500"/>
          </a:xfrm>
          <a:prstGeom prst="ellipse">
            <a:avLst/>
          </a:prstGeom>
          <a:solidFill>
            <a:srgbClr val="B68235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8" name="椭圆 27">
            <a:extLst>
              <a:ext uri="{FF2B5EF4-FFF2-40B4-BE49-F238E27FC236}">
                <a16:creationId xmlns:a16="http://schemas.microsoft.com/office/drawing/2014/main" id="{45A0BC77-568B-44DA-8A09-867651B16052}"/>
              </a:ext>
            </a:extLst>
          </p:cNvPr>
          <p:cNvSpPr>
            <a:spLocks noGrp="1"/>
          </p:cNvSpPr>
          <p:nvPr/>
        </p:nvSpPr>
        <p:spPr>
          <a:xfrm>
            <a:off x="4791075" y="3790950"/>
            <a:ext cx="190500" cy="190500"/>
          </a:xfrm>
          <a:prstGeom prst="ellipse">
            <a:avLst/>
          </a:prstGeom>
          <a:solidFill>
            <a:srgbClr val="F3F2F2"/>
          </a:solidFill>
          <a:ln w="14288">
            <a:solidFill>
              <a:srgbClr val="C9C5C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9" name="椭圆 28">
            <a:extLst>
              <a:ext uri="{FF2B5EF4-FFF2-40B4-BE49-F238E27FC236}">
                <a16:creationId xmlns:a16="http://schemas.microsoft.com/office/drawing/2014/main" id="{91E8328A-FA32-420D-9402-8C874B8CA257}"/>
              </a:ext>
            </a:extLst>
          </p:cNvPr>
          <p:cNvSpPr>
            <a:spLocks noGrp="1"/>
          </p:cNvSpPr>
          <p:nvPr/>
        </p:nvSpPr>
        <p:spPr>
          <a:xfrm>
            <a:off x="6467475" y="3790950"/>
            <a:ext cx="190500" cy="190500"/>
          </a:xfrm>
          <a:prstGeom prst="ellipse">
            <a:avLst/>
          </a:prstGeom>
          <a:solidFill>
            <a:srgbClr val="F3F2F2"/>
          </a:solidFill>
          <a:ln w="14288">
            <a:solidFill>
              <a:srgbClr val="C9C5C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0" name="椭圆 29">
            <a:extLst>
              <a:ext uri="{FF2B5EF4-FFF2-40B4-BE49-F238E27FC236}">
                <a16:creationId xmlns:a16="http://schemas.microsoft.com/office/drawing/2014/main" id="{DEC695F0-AC6F-4D30-B324-5F6FD2990329}"/>
              </a:ext>
            </a:extLst>
          </p:cNvPr>
          <p:cNvSpPr>
            <a:spLocks noGrp="1"/>
          </p:cNvSpPr>
          <p:nvPr/>
        </p:nvSpPr>
        <p:spPr>
          <a:xfrm>
            <a:off x="8143875" y="3790950"/>
            <a:ext cx="190500" cy="190500"/>
          </a:xfrm>
          <a:prstGeom prst="ellipse">
            <a:avLst/>
          </a:prstGeom>
          <a:solidFill>
            <a:srgbClr val="F3F2F2"/>
          </a:solidFill>
          <a:ln w="14288">
            <a:solidFill>
              <a:srgbClr val="C9C5C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1" name="椭圆 30">
            <a:extLst>
              <a:ext uri="{FF2B5EF4-FFF2-40B4-BE49-F238E27FC236}">
                <a16:creationId xmlns:a16="http://schemas.microsoft.com/office/drawing/2014/main" id="{972B3F0B-3950-443E-9E6F-2D790FCC80DF}"/>
              </a:ext>
            </a:extLst>
          </p:cNvPr>
          <p:cNvSpPr>
            <a:spLocks noGrp="1"/>
          </p:cNvSpPr>
          <p:nvPr/>
        </p:nvSpPr>
        <p:spPr>
          <a:xfrm>
            <a:off x="9820275" y="3790950"/>
            <a:ext cx="190500" cy="190500"/>
          </a:xfrm>
          <a:prstGeom prst="ellipse">
            <a:avLst/>
          </a:prstGeom>
          <a:solidFill>
            <a:srgbClr val="F3F2F2"/>
          </a:solidFill>
          <a:ln w="14288">
            <a:solidFill>
              <a:srgbClr val="C9C5C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2" name="直接连接符 31">
            <a:extLst>
              <a:ext uri="{FF2B5EF4-FFF2-40B4-BE49-F238E27FC236}">
                <a16:creationId xmlns:a16="http://schemas.microsoft.com/office/drawing/2014/main" id="{F5891DCB-CD95-4C9A-B677-6B86CE579781}"/>
              </a:ext>
            </a:extLst>
          </p:cNvPr>
          <p:cNvSpPr>
            <a:spLocks noGrp="1"/>
          </p:cNvSpPr>
          <p:nvPr/>
        </p:nvSpPr>
        <p:spPr>
          <a:xfrm>
            <a:off x="533400" y="4286250"/>
            <a:ext cx="11125200" cy="0"/>
          </a:xfrm>
          <a:prstGeom prst="line">
            <a:avLst/>
          </a:prstGeom>
          <a:noFill/>
          <a:ln w="9525">
            <a:solidFill>
              <a:srgbClr val="C9C5C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070AFADA-87ED-4EB6-82EA-82E57FE7E61A}"/>
              </a:ext>
            </a:extLst>
          </p:cNvPr>
          <p:cNvSpPr>
            <a:spLocks noGrp="1"/>
          </p:cNvSpPr>
          <p:nvPr/>
        </p:nvSpPr>
        <p:spPr>
          <a:xfrm>
            <a:off x="533400" y="4305300"/>
            <a:ext cx="11125200" cy="704850"/>
          </a:xfrm>
          <a:prstGeom prst="rect">
            <a:avLst/>
          </a:prstGeom>
          <a:solidFill>
            <a:srgbClr val="FFF3E4"/>
          </a:solidFill>
          <a:ln w="14288">
            <a:solidFill>
              <a:srgbClr val="B6823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118D0083-4013-4761-874D-E26442BA0496}"/>
              </a:ext>
            </a:extLst>
          </p:cNvPr>
          <p:cNvSpPr>
            <a:spLocks noGrp="1"/>
          </p:cNvSpPr>
          <p:nvPr/>
        </p:nvSpPr>
        <p:spPr>
          <a:xfrm>
            <a:off x="666750" y="4476750"/>
            <a:ext cx="16002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725" b="1" i="0">
                <a:solidFill>
                  <a:srgbClr val="C0492F"/>
                </a:solidFill>
                <a:latin typeface="Noto Serif SC"/>
                <a:ea typeface="Noto Serif SC"/>
                <a:cs typeface="Noto Serif SC"/>
              </a:defRPr>
            </a:pPr>
            <a:r>
              <a:rPr sz="1725" b="1" i="0">
                <a:solidFill>
                  <a:srgbClr val="C0492F"/>
                </a:solidFill>
                <a:latin typeface="Noto Serif SC"/>
                <a:ea typeface="Noto Serif SC"/>
                <a:cs typeface="Noto Serif SC"/>
              </a:rPr>
              <a:t>CareerPilot</a:t>
            </a:r>
          </a:p>
        </p:txBody>
      </p:sp>
      <p:sp>
        <p:nvSpPr>
          <p:cNvPr id="35" name="椭圆 34">
            <a:extLst>
              <a:ext uri="{FF2B5EF4-FFF2-40B4-BE49-F238E27FC236}">
                <a16:creationId xmlns:a16="http://schemas.microsoft.com/office/drawing/2014/main" id="{587E47A0-FCBA-4F72-B533-ECB6DF522578}"/>
              </a:ext>
            </a:extLst>
          </p:cNvPr>
          <p:cNvSpPr>
            <a:spLocks noGrp="1"/>
          </p:cNvSpPr>
          <p:nvPr/>
        </p:nvSpPr>
        <p:spPr>
          <a:xfrm>
            <a:off x="3114675" y="4495800"/>
            <a:ext cx="190500" cy="190500"/>
          </a:xfrm>
          <a:prstGeom prst="ellipse">
            <a:avLst/>
          </a:prstGeom>
          <a:solidFill>
            <a:srgbClr val="C0492F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6" name="椭圆 35">
            <a:extLst>
              <a:ext uri="{FF2B5EF4-FFF2-40B4-BE49-F238E27FC236}">
                <a16:creationId xmlns:a16="http://schemas.microsoft.com/office/drawing/2014/main" id="{F9B89589-8925-453A-87CF-26F78693F7A9}"/>
              </a:ext>
            </a:extLst>
          </p:cNvPr>
          <p:cNvSpPr>
            <a:spLocks noGrp="1"/>
          </p:cNvSpPr>
          <p:nvPr/>
        </p:nvSpPr>
        <p:spPr>
          <a:xfrm>
            <a:off x="4791075" y="4495800"/>
            <a:ext cx="190500" cy="190500"/>
          </a:xfrm>
          <a:prstGeom prst="ellipse">
            <a:avLst/>
          </a:prstGeom>
          <a:solidFill>
            <a:srgbClr val="C0492F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7" name="椭圆 36">
            <a:extLst>
              <a:ext uri="{FF2B5EF4-FFF2-40B4-BE49-F238E27FC236}">
                <a16:creationId xmlns:a16="http://schemas.microsoft.com/office/drawing/2014/main" id="{37F6360F-4E42-456D-BD36-2AE3A9E4D622}"/>
              </a:ext>
            </a:extLst>
          </p:cNvPr>
          <p:cNvSpPr>
            <a:spLocks noGrp="1"/>
          </p:cNvSpPr>
          <p:nvPr/>
        </p:nvSpPr>
        <p:spPr>
          <a:xfrm>
            <a:off x="6467475" y="4495800"/>
            <a:ext cx="190500" cy="190500"/>
          </a:xfrm>
          <a:prstGeom prst="ellipse">
            <a:avLst/>
          </a:prstGeom>
          <a:solidFill>
            <a:srgbClr val="C0492F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8" name="椭圆 37">
            <a:extLst>
              <a:ext uri="{FF2B5EF4-FFF2-40B4-BE49-F238E27FC236}">
                <a16:creationId xmlns:a16="http://schemas.microsoft.com/office/drawing/2014/main" id="{FCA97F69-6EEF-4FDA-B330-2D4A75B18AED}"/>
              </a:ext>
            </a:extLst>
          </p:cNvPr>
          <p:cNvSpPr>
            <a:spLocks noGrp="1"/>
          </p:cNvSpPr>
          <p:nvPr/>
        </p:nvSpPr>
        <p:spPr>
          <a:xfrm>
            <a:off x="8143875" y="4495800"/>
            <a:ext cx="190500" cy="190500"/>
          </a:xfrm>
          <a:prstGeom prst="ellipse">
            <a:avLst/>
          </a:prstGeom>
          <a:solidFill>
            <a:srgbClr val="C0492F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9" name="椭圆 38">
            <a:extLst>
              <a:ext uri="{FF2B5EF4-FFF2-40B4-BE49-F238E27FC236}">
                <a16:creationId xmlns:a16="http://schemas.microsoft.com/office/drawing/2014/main" id="{4B774837-0AD2-4D23-A13B-FCBC8E755644}"/>
              </a:ext>
            </a:extLst>
          </p:cNvPr>
          <p:cNvSpPr>
            <a:spLocks noGrp="1"/>
          </p:cNvSpPr>
          <p:nvPr/>
        </p:nvSpPr>
        <p:spPr>
          <a:xfrm>
            <a:off x="9820275" y="4495800"/>
            <a:ext cx="190500" cy="190500"/>
          </a:xfrm>
          <a:prstGeom prst="ellipse">
            <a:avLst/>
          </a:prstGeom>
          <a:solidFill>
            <a:srgbClr val="C0492F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5F17D867-928D-494C-914B-682ABB89C84F}"/>
              </a:ext>
            </a:extLst>
          </p:cNvPr>
          <p:cNvSpPr>
            <a:spLocks noGrp="1"/>
          </p:cNvSpPr>
          <p:nvPr/>
        </p:nvSpPr>
        <p:spPr>
          <a:xfrm>
            <a:off x="552450" y="5448300"/>
            <a:ext cx="1238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500" b="1" i="0">
                <a:solidFill>
                  <a:srgbClr val="7D5411"/>
                </a:solidFill>
                <a:latin typeface="Noto Serif SC"/>
                <a:ea typeface="Noto Serif SC"/>
                <a:cs typeface="Noto Serif SC"/>
              </a:defRPr>
            </a:pPr>
            <a:r>
              <a:rPr sz="1500" b="1" i="0">
                <a:solidFill>
                  <a:srgbClr val="7D5411"/>
                </a:solidFill>
                <a:latin typeface="Noto Serif SC"/>
                <a:ea typeface="Noto Serif SC"/>
                <a:cs typeface="Noto Serif SC"/>
              </a:rPr>
              <a:t>核心空白</a:t>
            </a:r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A8F0BC3F-647A-466E-93FE-57A19E698C43}"/>
              </a:ext>
            </a:extLst>
          </p:cNvPr>
          <p:cNvSpPr>
            <a:spLocks noGrp="1"/>
          </p:cNvSpPr>
          <p:nvPr/>
        </p:nvSpPr>
        <p:spPr>
          <a:xfrm>
            <a:off x="1809750" y="5410200"/>
            <a:ext cx="93726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875" b="0" i="0">
                <a:solidFill>
                  <a:srgbClr val="201F1D"/>
                </a:solidFill>
                <a:latin typeface="Noto Serif SC"/>
                <a:ea typeface="Noto Serif SC"/>
                <a:cs typeface="Noto Serif SC"/>
              </a:defRPr>
            </a:pPr>
            <a:r>
              <a:rPr sz="1875" b="0" i="0">
                <a:solidFill>
                  <a:srgbClr val="201F1D"/>
                </a:solidFill>
                <a:latin typeface="Noto Serif SC"/>
                <a:ea typeface="Noto Serif SC"/>
                <a:cs typeface="Noto Serif SC"/>
              </a:rPr>
              <a:t>同时连接岗位选择、解释、材料优化与面试准备，并把最终提交权留给学生。</a:t>
            </a:r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811772B8-79AB-4DD5-8C27-444137A637FF}"/>
              </a:ext>
            </a:extLst>
          </p:cNvPr>
          <p:cNvSpPr>
            <a:spLocks noGrp="1"/>
          </p:cNvSpPr>
          <p:nvPr/>
        </p:nvSpPr>
        <p:spPr>
          <a:xfrm>
            <a:off x="552450" y="5981700"/>
            <a:ext cx="7429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200" b="0" i="1">
                <a:solidFill>
                  <a:srgbClr val="666160"/>
                </a:solidFill>
                <a:latin typeface="Noto Serif SC"/>
                <a:ea typeface="Noto Serif SC"/>
                <a:cs typeface="Noto Serif SC"/>
              </a:defRPr>
            </a:pPr>
            <a:r>
              <a:rPr sz="1200" b="0" i="1">
                <a:solidFill>
                  <a:srgbClr val="666160"/>
                </a:solidFill>
                <a:latin typeface="Noto Serif SC"/>
                <a:ea typeface="Noto Serif SC"/>
                <a:cs typeface="Noto Serif SC"/>
              </a:rPr>
              <a:t>不提供自动投递，也不承诺面试或 offer</a:t>
            </a:r>
          </a:p>
        </p:txBody>
      </p:sp>
    </p:spTree>
    <p:extLst>
      <p:ext uri="{BB962C8B-B14F-4D97-AF65-F5344CB8AC3E}">
        <p14:creationId xmlns:p14="http://schemas.microsoft.com/office/powerpoint/2010/main" val="21364248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矩形 38">
            <a:extLst>
              <a:ext uri="{FF2B5EF4-FFF2-40B4-BE49-F238E27FC236}">
                <a16:creationId xmlns:a16="http://schemas.microsoft.com/office/drawing/2014/main" id="{2BCD56DD-5B04-4CC0-BE9F-96E2169211CB}"/>
              </a:ext>
            </a:extLst>
          </p:cNvPr>
          <p:cNvSpPr>
            <a:spLocks noGrp="1"/>
          </p:cNvSpPr>
          <p:nvPr/>
        </p:nvSpPr>
        <p:spPr>
          <a:xfrm>
            <a:off x="533400" y="266700"/>
            <a:ext cx="1714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575" b="1" i="0">
                <a:solidFill>
                  <a:srgbClr val="201F1D"/>
                </a:solidFill>
                <a:latin typeface="Georgia"/>
                <a:ea typeface="Georgia"/>
                <a:cs typeface="Georgia"/>
              </a:defRPr>
            </a:pPr>
            <a:r>
              <a:rPr sz="1575" b="1" i="0">
                <a:solidFill>
                  <a:srgbClr val="201F1D"/>
                </a:solidFill>
                <a:latin typeface="Georgia"/>
                <a:ea typeface="Georgia"/>
                <a:cs typeface="Georgia"/>
              </a:rPr>
              <a:t>CareerPilot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7A61EA72-FEDE-4E77-A67B-765AA5D650A4}"/>
              </a:ext>
            </a:extLst>
          </p:cNvPr>
          <p:cNvSpPr>
            <a:spLocks noGrp="1"/>
          </p:cNvSpPr>
          <p:nvPr/>
        </p:nvSpPr>
        <p:spPr>
          <a:xfrm>
            <a:off x="8572500" y="285750"/>
            <a:ext cx="30861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defRPr sz="975" b="0" i="0">
                <a:solidFill>
                  <a:srgbClr val="7D5411"/>
                </a:solidFill>
                <a:latin typeface="Georgia"/>
                <a:ea typeface="Georgia"/>
                <a:cs typeface="Georgia"/>
              </a:defRPr>
            </a:pPr>
            <a:r>
              <a:rPr sz="975" b="0" i="0">
                <a:solidFill>
                  <a:srgbClr val="7D5411"/>
                </a:solidFill>
                <a:latin typeface="Georgia"/>
                <a:ea typeface="Georgia"/>
                <a:cs typeface="Georgia"/>
              </a:rPr>
              <a:t>USER JOURNEY</a:t>
            </a:r>
          </a:p>
        </p:txBody>
      </p:sp>
      <p:sp>
        <p:nvSpPr>
          <p:cNvPr id="3" name="直接连接符 2">
            <a:extLst>
              <a:ext uri="{FF2B5EF4-FFF2-40B4-BE49-F238E27FC236}">
                <a16:creationId xmlns:a16="http://schemas.microsoft.com/office/drawing/2014/main" id="{D9672C84-B55E-4EB9-A22F-47D768F00285}"/>
              </a:ext>
            </a:extLst>
          </p:cNvPr>
          <p:cNvSpPr>
            <a:spLocks noGrp="1"/>
          </p:cNvSpPr>
          <p:nvPr/>
        </p:nvSpPr>
        <p:spPr>
          <a:xfrm>
            <a:off x="533400" y="685800"/>
            <a:ext cx="11125200" cy="0"/>
          </a:xfrm>
          <a:prstGeom prst="line">
            <a:avLst/>
          </a:prstGeom>
          <a:noFill/>
          <a:ln w="9525">
            <a:solidFill>
              <a:srgbClr val="C9C5C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1BAE144D-0B15-4827-9882-374137CC3699}"/>
              </a:ext>
            </a:extLst>
          </p:cNvPr>
          <p:cNvSpPr>
            <a:spLocks noGrp="1"/>
          </p:cNvSpPr>
          <p:nvPr/>
        </p:nvSpPr>
        <p:spPr>
          <a:xfrm>
            <a:off x="533400" y="914400"/>
            <a:ext cx="106680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3450" b="0" i="0">
                <a:solidFill>
                  <a:srgbClr val="201F1D"/>
                </a:solidFill>
                <a:latin typeface="Noto Serif SC"/>
                <a:ea typeface="Noto Serif SC"/>
                <a:cs typeface="Noto Serif SC"/>
              </a:defRPr>
            </a:pPr>
            <a:r>
              <a:rPr sz="3450" b="0" i="0" dirty="0" err="1">
                <a:solidFill>
                  <a:srgbClr val="201F1D"/>
                </a:solidFill>
                <a:latin typeface="Noto Serif SC"/>
                <a:ea typeface="Noto Serif SC"/>
                <a:cs typeface="Noto Serif SC"/>
              </a:rPr>
              <a:t>从学生画像到自主提交的闭环</a:t>
            </a:r>
            <a:endParaRPr sz="3450" b="0" i="0" dirty="0">
              <a:solidFill>
                <a:srgbClr val="201F1D"/>
              </a:solidFill>
              <a:latin typeface="Noto Serif SC"/>
              <a:ea typeface="Noto Serif SC"/>
              <a:cs typeface="Noto Serif SC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8DF218CC-51EB-49E2-8878-E94315BE78CA}"/>
              </a:ext>
            </a:extLst>
          </p:cNvPr>
          <p:cNvSpPr>
            <a:spLocks noGrp="1"/>
          </p:cNvSpPr>
          <p:nvPr/>
        </p:nvSpPr>
        <p:spPr>
          <a:xfrm>
            <a:off x="11182350" y="6305550"/>
            <a:ext cx="476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defRPr sz="1125" b="0" i="0">
                <a:solidFill>
                  <a:srgbClr val="B68235"/>
                </a:solidFill>
                <a:latin typeface="Georgia"/>
                <a:ea typeface="Georgia"/>
                <a:cs typeface="Georgia"/>
              </a:defRPr>
            </a:pPr>
            <a:r>
              <a:rPr sz="1125" b="0" i="0">
                <a:solidFill>
                  <a:srgbClr val="B68235"/>
                </a:solidFill>
                <a:latin typeface="Georgia"/>
                <a:ea typeface="Georgia"/>
                <a:cs typeface="Georgia"/>
              </a:rPr>
              <a:t>04</a:t>
            </a:r>
          </a:p>
        </p:txBody>
      </p:sp>
      <p:pic>
        <p:nvPicPr>
          <p:cNvPr id="31" name="图片 30">
            <a:extLst>
              <a:ext uri="{FF2B5EF4-FFF2-40B4-BE49-F238E27FC236}">
                <a16:creationId xmlns:a16="http://schemas.microsoft.com/office/drawing/2014/main" id="{6BE1E118-B708-0BA8-4AF9-27DE1D137DF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63075" y="1390650"/>
            <a:ext cx="9339385" cy="52534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141950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矩形 26">
            <a:extLst>
              <a:ext uri="{FF2B5EF4-FFF2-40B4-BE49-F238E27FC236}">
                <a16:creationId xmlns:a16="http://schemas.microsoft.com/office/drawing/2014/main" id="{34263BBA-EA9F-4992-AA93-DCBA61D838D4}"/>
              </a:ext>
            </a:extLst>
          </p:cNvPr>
          <p:cNvSpPr>
            <a:spLocks noGrp="1"/>
          </p:cNvSpPr>
          <p:nvPr/>
        </p:nvSpPr>
        <p:spPr>
          <a:xfrm>
            <a:off x="533400" y="266700"/>
            <a:ext cx="1714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575" b="1" i="0">
                <a:solidFill>
                  <a:srgbClr val="201F1D"/>
                </a:solidFill>
                <a:latin typeface="Georgia"/>
                <a:ea typeface="Georgia"/>
                <a:cs typeface="Georgia"/>
              </a:defRPr>
            </a:pPr>
            <a:r>
              <a:rPr sz="1575" b="1" i="0">
                <a:solidFill>
                  <a:srgbClr val="201F1D"/>
                </a:solidFill>
                <a:latin typeface="Georgia"/>
                <a:ea typeface="Georgia"/>
                <a:cs typeface="Georgia"/>
              </a:rPr>
              <a:t>CareerPilot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7EFCCB28-EC75-4CA6-A32E-B4C638456896}"/>
              </a:ext>
            </a:extLst>
          </p:cNvPr>
          <p:cNvSpPr>
            <a:spLocks noGrp="1"/>
          </p:cNvSpPr>
          <p:nvPr/>
        </p:nvSpPr>
        <p:spPr>
          <a:xfrm>
            <a:off x="8572500" y="285750"/>
            <a:ext cx="30861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defRPr sz="975" b="0" i="0">
                <a:solidFill>
                  <a:srgbClr val="7D5411"/>
                </a:solidFill>
                <a:latin typeface="Georgia"/>
                <a:ea typeface="Georgia"/>
                <a:cs typeface="Georgia"/>
              </a:defRPr>
            </a:pPr>
            <a:r>
              <a:rPr sz="975" b="0" i="0">
                <a:solidFill>
                  <a:srgbClr val="7D5411"/>
                </a:solidFill>
                <a:latin typeface="Georgia"/>
                <a:ea typeface="Georgia"/>
                <a:cs typeface="Georgia"/>
              </a:rPr>
              <a:t>CORE EXPERIENCE</a:t>
            </a:r>
          </a:p>
        </p:txBody>
      </p:sp>
      <p:sp>
        <p:nvSpPr>
          <p:cNvPr id="3" name="直接连接符 2">
            <a:extLst>
              <a:ext uri="{FF2B5EF4-FFF2-40B4-BE49-F238E27FC236}">
                <a16:creationId xmlns:a16="http://schemas.microsoft.com/office/drawing/2014/main" id="{E67AE906-763A-4DFF-BC63-5D9A14D9D6AB}"/>
              </a:ext>
            </a:extLst>
          </p:cNvPr>
          <p:cNvSpPr>
            <a:spLocks noGrp="1"/>
          </p:cNvSpPr>
          <p:nvPr/>
        </p:nvSpPr>
        <p:spPr>
          <a:xfrm>
            <a:off x="533400" y="685800"/>
            <a:ext cx="11125200" cy="0"/>
          </a:xfrm>
          <a:prstGeom prst="line">
            <a:avLst/>
          </a:prstGeom>
          <a:noFill/>
          <a:ln w="9525">
            <a:solidFill>
              <a:srgbClr val="C9C5C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55A6F27E-E33C-404A-B1A3-DA6A881ED226}"/>
              </a:ext>
            </a:extLst>
          </p:cNvPr>
          <p:cNvSpPr>
            <a:spLocks noGrp="1"/>
          </p:cNvSpPr>
          <p:nvPr/>
        </p:nvSpPr>
        <p:spPr>
          <a:xfrm>
            <a:off x="533400" y="914400"/>
            <a:ext cx="106680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3450" b="0" i="0">
                <a:solidFill>
                  <a:srgbClr val="201F1D"/>
                </a:solidFill>
                <a:latin typeface="Noto Serif SC"/>
                <a:ea typeface="Noto Serif SC"/>
                <a:cs typeface="Noto Serif SC"/>
              </a:defRPr>
            </a:pPr>
            <a:r>
              <a:rPr sz="3450" b="0" i="0" dirty="0" err="1">
                <a:solidFill>
                  <a:srgbClr val="201F1D"/>
                </a:solidFill>
                <a:latin typeface="Noto Serif SC"/>
                <a:ea typeface="Noto Serif SC"/>
                <a:cs typeface="Noto Serif SC"/>
              </a:rPr>
              <a:t>核心功能</a:t>
            </a:r>
            <a:r>
              <a:rPr lang="zh-CN" altLang="en-US" sz="3450" b="0" i="0" dirty="0">
                <a:solidFill>
                  <a:srgbClr val="201F1D"/>
                </a:solidFill>
                <a:latin typeface="Noto Serif SC"/>
                <a:ea typeface="Noto Serif SC"/>
                <a:cs typeface="Noto Serif SC"/>
              </a:rPr>
              <a:t>图</a:t>
            </a:r>
            <a:endParaRPr sz="3450" b="0" i="0" dirty="0">
              <a:solidFill>
                <a:srgbClr val="201F1D"/>
              </a:solidFill>
              <a:latin typeface="Noto Serif SC"/>
              <a:ea typeface="Noto Serif SC"/>
              <a:cs typeface="Noto Serif SC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9E73DEDD-3047-48C7-98E4-7EA22B9C1FE4}"/>
              </a:ext>
            </a:extLst>
          </p:cNvPr>
          <p:cNvSpPr>
            <a:spLocks noGrp="1"/>
          </p:cNvSpPr>
          <p:nvPr/>
        </p:nvSpPr>
        <p:spPr>
          <a:xfrm>
            <a:off x="11182350" y="6305550"/>
            <a:ext cx="476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defRPr sz="1125" b="0" i="0">
                <a:solidFill>
                  <a:srgbClr val="B68235"/>
                </a:solidFill>
                <a:latin typeface="Georgia"/>
                <a:ea typeface="Georgia"/>
                <a:cs typeface="Georgia"/>
              </a:defRPr>
            </a:pPr>
            <a:r>
              <a:rPr sz="1125" b="0" i="0">
                <a:solidFill>
                  <a:srgbClr val="B68235"/>
                </a:solidFill>
                <a:latin typeface="Georgia"/>
                <a:ea typeface="Georgia"/>
                <a:cs typeface="Georgia"/>
              </a:rPr>
              <a:t>05</a:t>
            </a:r>
          </a:p>
        </p:txBody>
      </p:sp>
      <p:pic>
        <p:nvPicPr>
          <p:cNvPr id="17" name="图片 16">
            <a:extLst>
              <a:ext uri="{FF2B5EF4-FFF2-40B4-BE49-F238E27FC236}">
                <a16:creationId xmlns:a16="http://schemas.microsoft.com/office/drawing/2014/main" id="{B05C5B88-8E18-2E5E-325A-030C90888B7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7977" y="1502385"/>
            <a:ext cx="9396046" cy="52852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0286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矩形 36">
            <a:extLst>
              <a:ext uri="{FF2B5EF4-FFF2-40B4-BE49-F238E27FC236}">
                <a16:creationId xmlns:a16="http://schemas.microsoft.com/office/drawing/2014/main" id="{8A2E8AF1-CBFC-4831-B079-5F8FCEC24B9F}"/>
              </a:ext>
            </a:extLst>
          </p:cNvPr>
          <p:cNvSpPr>
            <a:spLocks noGrp="1"/>
          </p:cNvSpPr>
          <p:nvPr/>
        </p:nvSpPr>
        <p:spPr>
          <a:xfrm>
            <a:off x="533400" y="266700"/>
            <a:ext cx="1714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575" b="1" i="0">
                <a:solidFill>
                  <a:srgbClr val="201F1D"/>
                </a:solidFill>
                <a:latin typeface="Georgia"/>
                <a:ea typeface="Georgia"/>
                <a:cs typeface="Georgia"/>
              </a:defRPr>
            </a:pPr>
            <a:r>
              <a:rPr sz="1575" b="1" i="0">
                <a:solidFill>
                  <a:srgbClr val="201F1D"/>
                </a:solidFill>
                <a:latin typeface="Georgia"/>
                <a:ea typeface="Georgia"/>
                <a:cs typeface="Georgia"/>
              </a:rPr>
              <a:t>CareerPilot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30EC70BB-EA8D-47E9-BD2E-F982C8BEC763}"/>
              </a:ext>
            </a:extLst>
          </p:cNvPr>
          <p:cNvSpPr>
            <a:spLocks noGrp="1"/>
          </p:cNvSpPr>
          <p:nvPr/>
        </p:nvSpPr>
        <p:spPr>
          <a:xfrm>
            <a:off x="8572500" y="285750"/>
            <a:ext cx="30861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defRPr sz="975" b="0" i="0">
                <a:solidFill>
                  <a:srgbClr val="7D5411"/>
                </a:solidFill>
                <a:latin typeface="Georgia"/>
                <a:ea typeface="Georgia"/>
                <a:cs typeface="Georgia"/>
              </a:defRPr>
            </a:pPr>
            <a:r>
              <a:rPr sz="975" b="0" i="0">
                <a:solidFill>
                  <a:srgbClr val="7D5411"/>
                </a:solidFill>
                <a:latin typeface="Georgia"/>
                <a:ea typeface="Georgia"/>
                <a:cs typeface="Georgia"/>
              </a:rPr>
              <a:t>SCOPE</a:t>
            </a:r>
          </a:p>
        </p:txBody>
      </p:sp>
      <p:sp>
        <p:nvSpPr>
          <p:cNvPr id="3" name="直接连接符 2">
            <a:extLst>
              <a:ext uri="{FF2B5EF4-FFF2-40B4-BE49-F238E27FC236}">
                <a16:creationId xmlns:a16="http://schemas.microsoft.com/office/drawing/2014/main" id="{F249A151-AE37-486B-9A3A-C5ED5EC456FD}"/>
              </a:ext>
            </a:extLst>
          </p:cNvPr>
          <p:cNvSpPr>
            <a:spLocks noGrp="1"/>
          </p:cNvSpPr>
          <p:nvPr/>
        </p:nvSpPr>
        <p:spPr>
          <a:xfrm>
            <a:off x="533400" y="685800"/>
            <a:ext cx="11125200" cy="0"/>
          </a:xfrm>
          <a:prstGeom prst="line">
            <a:avLst/>
          </a:prstGeom>
          <a:noFill/>
          <a:ln w="9525">
            <a:solidFill>
              <a:srgbClr val="C9C5C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0C3373C8-E498-4399-B28C-9794BB1D9DBA}"/>
              </a:ext>
            </a:extLst>
          </p:cNvPr>
          <p:cNvSpPr>
            <a:spLocks noGrp="1"/>
          </p:cNvSpPr>
          <p:nvPr/>
        </p:nvSpPr>
        <p:spPr>
          <a:xfrm>
            <a:off x="533400" y="914400"/>
            <a:ext cx="106680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3450" b="0" i="0">
                <a:solidFill>
                  <a:srgbClr val="201F1D"/>
                </a:solidFill>
                <a:latin typeface="Noto Serif SC"/>
                <a:ea typeface="Noto Serif SC"/>
                <a:cs typeface="Noto Serif SC"/>
              </a:defRPr>
            </a:pPr>
            <a:r>
              <a:rPr sz="3450" b="0" i="0">
                <a:solidFill>
                  <a:srgbClr val="201F1D"/>
                </a:solidFill>
                <a:latin typeface="Noto Serif SC"/>
                <a:ea typeface="Noto Serif SC"/>
                <a:cs typeface="Noto Serif SC"/>
              </a:rPr>
              <a:t>Proposal 阶段的范围与边界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42651B2-CA00-4CCC-97C4-964F1873AB47}"/>
              </a:ext>
            </a:extLst>
          </p:cNvPr>
          <p:cNvSpPr>
            <a:spLocks noGrp="1"/>
          </p:cNvSpPr>
          <p:nvPr/>
        </p:nvSpPr>
        <p:spPr>
          <a:xfrm>
            <a:off x="11182350" y="6305550"/>
            <a:ext cx="476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defRPr sz="1125" b="0" i="0">
                <a:solidFill>
                  <a:srgbClr val="B68235"/>
                </a:solidFill>
                <a:latin typeface="Georgia"/>
                <a:ea typeface="Georgia"/>
                <a:cs typeface="Georgia"/>
              </a:defRPr>
            </a:pPr>
            <a:r>
              <a:rPr sz="1125" b="0" i="0">
                <a:solidFill>
                  <a:srgbClr val="B68235"/>
                </a:solidFill>
                <a:latin typeface="Georgia"/>
                <a:ea typeface="Georgia"/>
                <a:cs typeface="Georgia"/>
              </a:rPr>
              <a:t>06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9878D913-4D87-4744-A368-49F1D7033F5F}"/>
              </a:ext>
            </a:extLst>
          </p:cNvPr>
          <p:cNvSpPr>
            <a:spLocks noGrp="1"/>
          </p:cNvSpPr>
          <p:nvPr/>
        </p:nvSpPr>
        <p:spPr>
          <a:xfrm>
            <a:off x="552450" y="1524000"/>
            <a:ext cx="9048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500" b="0" i="0">
                <a:solidFill>
                  <a:srgbClr val="666160"/>
                </a:solidFill>
                <a:latin typeface="Noto Serif SC"/>
                <a:ea typeface="Noto Serif SC"/>
                <a:cs typeface="Noto Serif SC"/>
              </a:defRPr>
            </a:pPr>
            <a:r>
              <a:rPr sz="1500" b="0" i="0">
                <a:solidFill>
                  <a:srgbClr val="666160"/>
                </a:solidFill>
                <a:latin typeface="Noto Serif SC"/>
                <a:ea typeface="Noto Serif SC"/>
                <a:cs typeface="Noto Serif SC"/>
              </a:rPr>
              <a:t>优先完成可演示的学生求职闭环，控制数据、行业和自动化风险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BD570699-7614-4213-A42B-473E8742D07E}"/>
              </a:ext>
            </a:extLst>
          </p:cNvPr>
          <p:cNvSpPr>
            <a:spLocks noGrp="1"/>
          </p:cNvSpPr>
          <p:nvPr/>
        </p:nvSpPr>
        <p:spPr>
          <a:xfrm>
            <a:off x="533400" y="2133600"/>
            <a:ext cx="6724650" cy="3333750"/>
          </a:xfrm>
          <a:prstGeom prst="rect">
            <a:avLst/>
          </a:prstGeom>
          <a:solidFill>
            <a:srgbClr val="FFF3E4"/>
          </a:solidFill>
          <a:ln w="14288">
            <a:solidFill>
              <a:srgbClr val="B6823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D3C59CEA-A801-43DD-B884-70A747997F5A}"/>
              </a:ext>
            </a:extLst>
          </p:cNvPr>
          <p:cNvSpPr>
            <a:spLocks noGrp="1"/>
          </p:cNvSpPr>
          <p:nvPr/>
        </p:nvSpPr>
        <p:spPr>
          <a:xfrm>
            <a:off x="819150" y="2381250"/>
            <a:ext cx="1714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2250" b="1" i="0">
                <a:solidFill>
                  <a:srgbClr val="C0492F"/>
                </a:solidFill>
                <a:latin typeface="Noto Serif SC"/>
                <a:ea typeface="Noto Serif SC"/>
                <a:cs typeface="Noto Serif SC"/>
              </a:defRPr>
            </a:pPr>
            <a:r>
              <a:rPr sz="2250" b="1" i="0">
                <a:solidFill>
                  <a:srgbClr val="C0492F"/>
                </a:solidFill>
                <a:latin typeface="Noto Serif SC"/>
                <a:ea typeface="Noto Serif SC"/>
                <a:cs typeface="Noto Serif SC"/>
              </a:rPr>
              <a:t>范围内</a:t>
            </a:r>
          </a:p>
        </p:txBody>
      </p:sp>
      <p:sp>
        <p:nvSpPr>
          <p:cNvPr id="9" name="椭圆 8">
            <a:extLst>
              <a:ext uri="{FF2B5EF4-FFF2-40B4-BE49-F238E27FC236}">
                <a16:creationId xmlns:a16="http://schemas.microsoft.com/office/drawing/2014/main" id="{75A57B89-3CB5-44DB-A4F9-C9AC467AF725}"/>
              </a:ext>
            </a:extLst>
          </p:cNvPr>
          <p:cNvSpPr>
            <a:spLocks noGrp="1"/>
          </p:cNvSpPr>
          <p:nvPr/>
        </p:nvSpPr>
        <p:spPr>
          <a:xfrm>
            <a:off x="857250" y="3057525"/>
            <a:ext cx="95250" cy="95250"/>
          </a:xfrm>
          <a:prstGeom prst="ellipse">
            <a:avLst/>
          </a:prstGeom>
          <a:solidFill>
            <a:srgbClr val="B68235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3FA93754-1EBB-4648-B082-401C32AC0C96}"/>
              </a:ext>
            </a:extLst>
          </p:cNvPr>
          <p:cNvSpPr>
            <a:spLocks noGrp="1"/>
          </p:cNvSpPr>
          <p:nvPr/>
        </p:nvSpPr>
        <p:spPr>
          <a:xfrm>
            <a:off x="1104900" y="2990850"/>
            <a:ext cx="242887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500" b="1" i="0">
                <a:solidFill>
                  <a:srgbClr val="201F1D"/>
                </a:solidFill>
                <a:latin typeface="Noto Serif SC"/>
                <a:ea typeface="Noto Serif SC"/>
                <a:cs typeface="Noto Serif SC"/>
              </a:defRPr>
            </a:pPr>
            <a:r>
              <a:rPr sz="1500" b="1" i="0">
                <a:solidFill>
                  <a:srgbClr val="201F1D"/>
                </a:solidFill>
                <a:latin typeface="Noto Serif SC"/>
                <a:ea typeface="Noto Serif SC"/>
                <a:cs typeface="Noto Serif SC"/>
              </a:rPr>
              <a:t>岗位推荐与解释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54430A88-8CF9-438D-96A8-59550FD7DDB7}"/>
              </a:ext>
            </a:extLst>
          </p:cNvPr>
          <p:cNvSpPr>
            <a:spLocks noGrp="1"/>
          </p:cNvSpPr>
          <p:nvPr/>
        </p:nvSpPr>
        <p:spPr>
          <a:xfrm>
            <a:off x="3638550" y="2990850"/>
            <a:ext cx="32004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275" b="0" i="0">
                <a:solidFill>
                  <a:srgbClr val="666160"/>
                </a:solidFill>
                <a:latin typeface="Noto Serif SC"/>
                <a:ea typeface="Noto Serif SC"/>
                <a:cs typeface="Noto Serif SC"/>
              </a:defRPr>
            </a:pPr>
            <a:r>
              <a:rPr sz="1275" b="0" i="0">
                <a:solidFill>
                  <a:srgbClr val="666160"/>
                </a:solidFill>
                <a:latin typeface="Noto Serif SC"/>
                <a:ea typeface="Noto Serif SC"/>
                <a:cs typeface="Noto Serif SC"/>
              </a:rPr>
              <a:t>IT 实习和校招岗位</a:t>
            </a:r>
          </a:p>
        </p:txBody>
      </p:sp>
      <p:sp>
        <p:nvSpPr>
          <p:cNvPr id="12" name="椭圆 11">
            <a:extLst>
              <a:ext uri="{FF2B5EF4-FFF2-40B4-BE49-F238E27FC236}">
                <a16:creationId xmlns:a16="http://schemas.microsoft.com/office/drawing/2014/main" id="{ABAEF6B9-D00F-4C63-885C-7B59DBB3B14E}"/>
              </a:ext>
            </a:extLst>
          </p:cNvPr>
          <p:cNvSpPr>
            <a:spLocks noGrp="1"/>
          </p:cNvSpPr>
          <p:nvPr/>
        </p:nvSpPr>
        <p:spPr>
          <a:xfrm>
            <a:off x="857250" y="3609975"/>
            <a:ext cx="95250" cy="95250"/>
          </a:xfrm>
          <a:prstGeom prst="ellipse">
            <a:avLst/>
          </a:prstGeom>
          <a:solidFill>
            <a:srgbClr val="C0492F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7E294581-01E6-4D85-B343-029A305922CD}"/>
              </a:ext>
            </a:extLst>
          </p:cNvPr>
          <p:cNvSpPr>
            <a:spLocks noGrp="1"/>
          </p:cNvSpPr>
          <p:nvPr/>
        </p:nvSpPr>
        <p:spPr>
          <a:xfrm>
            <a:off x="1104900" y="3543300"/>
            <a:ext cx="242887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500" b="1" i="0">
                <a:solidFill>
                  <a:srgbClr val="201F1D"/>
                </a:solidFill>
                <a:latin typeface="Noto Serif SC"/>
                <a:ea typeface="Noto Serif SC"/>
                <a:cs typeface="Noto Serif SC"/>
              </a:defRPr>
            </a:pPr>
            <a:r>
              <a:rPr sz="1500" b="1" i="0">
                <a:solidFill>
                  <a:srgbClr val="201F1D"/>
                </a:solidFill>
                <a:latin typeface="Noto Serif SC"/>
                <a:ea typeface="Noto Serif SC"/>
                <a:cs typeface="Noto Serif SC"/>
              </a:rPr>
              <a:t>JD 定向简历优化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19EE200F-A9DD-4934-80B1-A1D887FE6667}"/>
              </a:ext>
            </a:extLst>
          </p:cNvPr>
          <p:cNvSpPr>
            <a:spLocks noGrp="1"/>
          </p:cNvSpPr>
          <p:nvPr/>
        </p:nvSpPr>
        <p:spPr>
          <a:xfrm>
            <a:off x="3638550" y="3543300"/>
            <a:ext cx="32004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275" b="0" i="0">
                <a:solidFill>
                  <a:srgbClr val="666160"/>
                </a:solidFill>
                <a:latin typeface="Noto Serif SC"/>
                <a:ea typeface="Noto Serif SC"/>
                <a:cs typeface="Noto Serif SC"/>
              </a:defRPr>
            </a:pPr>
            <a:r>
              <a:rPr sz="1275" b="0" i="0">
                <a:solidFill>
                  <a:srgbClr val="666160"/>
                </a:solidFill>
                <a:latin typeface="Noto Serif SC"/>
                <a:ea typeface="Noto Serif SC"/>
                <a:cs typeface="Noto Serif SC"/>
              </a:rPr>
              <a:t>只改写已有事实</a:t>
            </a:r>
          </a:p>
        </p:txBody>
      </p:sp>
      <p:sp>
        <p:nvSpPr>
          <p:cNvPr id="15" name="椭圆 14">
            <a:extLst>
              <a:ext uri="{FF2B5EF4-FFF2-40B4-BE49-F238E27FC236}">
                <a16:creationId xmlns:a16="http://schemas.microsoft.com/office/drawing/2014/main" id="{AF56D136-6358-487F-B0FE-2011627C6642}"/>
              </a:ext>
            </a:extLst>
          </p:cNvPr>
          <p:cNvSpPr>
            <a:spLocks noGrp="1"/>
          </p:cNvSpPr>
          <p:nvPr/>
        </p:nvSpPr>
        <p:spPr>
          <a:xfrm>
            <a:off x="857250" y="4162425"/>
            <a:ext cx="95250" cy="95250"/>
          </a:xfrm>
          <a:prstGeom prst="ellipse">
            <a:avLst/>
          </a:prstGeom>
          <a:solidFill>
            <a:srgbClr val="B68235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69309B5D-8F7B-4D16-916B-1795143169CF}"/>
              </a:ext>
            </a:extLst>
          </p:cNvPr>
          <p:cNvSpPr>
            <a:spLocks noGrp="1"/>
          </p:cNvSpPr>
          <p:nvPr/>
        </p:nvSpPr>
        <p:spPr>
          <a:xfrm>
            <a:off x="1104900" y="4095750"/>
            <a:ext cx="242887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500" b="1" i="0">
                <a:solidFill>
                  <a:srgbClr val="201F1D"/>
                </a:solidFill>
                <a:latin typeface="Noto Serif SC"/>
                <a:ea typeface="Noto Serif SC"/>
                <a:cs typeface="Noto Serif SC"/>
              </a:defRPr>
            </a:pPr>
            <a:r>
              <a:rPr sz="1500" b="1" i="0">
                <a:solidFill>
                  <a:srgbClr val="201F1D"/>
                </a:solidFill>
                <a:latin typeface="Noto Serif SC"/>
                <a:ea typeface="Noto Serif SC"/>
                <a:cs typeface="Noto Serif SC"/>
              </a:rPr>
              <a:t>模拟面试原型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EEC262D6-5887-4F03-B52F-55146FA9BC23}"/>
              </a:ext>
            </a:extLst>
          </p:cNvPr>
          <p:cNvSpPr>
            <a:spLocks noGrp="1"/>
          </p:cNvSpPr>
          <p:nvPr/>
        </p:nvSpPr>
        <p:spPr>
          <a:xfrm>
            <a:off x="3638550" y="4095750"/>
            <a:ext cx="32004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275" b="0" i="0">
                <a:solidFill>
                  <a:srgbClr val="666160"/>
                </a:solidFill>
                <a:latin typeface="Noto Serif SC"/>
                <a:ea typeface="Noto Serif SC"/>
                <a:cs typeface="Noto Serif SC"/>
              </a:defRPr>
            </a:pPr>
            <a:r>
              <a:rPr sz="1275" b="0" i="0">
                <a:solidFill>
                  <a:srgbClr val="666160"/>
                </a:solidFill>
                <a:latin typeface="Noto Serif SC"/>
                <a:ea typeface="Noto Serif SC"/>
                <a:cs typeface="Noto Serif SC"/>
              </a:rPr>
              <a:t>题库、录制、转写占位与反馈</a:t>
            </a:r>
          </a:p>
        </p:txBody>
      </p:sp>
      <p:sp>
        <p:nvSpPr>
          <p:cNvPr id="18" name="椭圆 17">
            <a:extLst>
              <a:ext uri="{FF2B5EF4-FFF2-40B4-BE49-F238E27FC236}">
                <a16:creationId xmlns:a16="http://schemas.microsoft.com/office/drawing/2014/main" id="{CFDC3CEE-6462-4A32-8908-BE12A531CA6E}"/>
              </a:ext>
            </a:extLst>
          </p:cNvPr>
          <p:cNvSpPr>
            <a:spLocks noGrp="1"/>
          </p:cNvSpPr>
          <p:nvPr/>
        </p:nvSpPr>
        <p:spPr>
          <a:xfrm>
            <a:off x="857250" y="4714875"/>
            <a:ext cx="95250" cy="95250"/>
          </a:xfrm>
          <a:prstGeom prst="ellipse">
            <a:avLst/>
          </a:prstGeom>
          <a:solidFill>
            <a:srgbClr val="B68235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55B0ECBB-C3FF-43C0-8B7E-2466151F3855}"/>
              </a:ext>
            </a:extLst>
          </p:cNvPr>
          <p:cNvSpPr>
            <a:spLocks noGrp="1"/>
          </p:cNvSpPr>
          <p:nvPr/>
        </p:nvSpPr>
        <p:spPr>
          <a:xfrm>
            <a:off x="1104900" y="4648200"/>
            <a:ext cx="242887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500" b="1" i="0">
                <a:solidFill>
                  <a:srgbClr val="201F1D"/>
                </a:solidFill>
                <a:latin typeface="Noto Serif SC"/>
                <a:ea typeface="Noto Serif SC"/>
                <a:cs typeface="Noto Serif SC"/>
              </a:defRPr>
            </a:pPr>
            <a:r>
              <a:rPr sz="1500" b="1" i="0">
                <a:solidFill>
                  <a:srgbClr val="201F1D"/>
                </a:solidFill>
                <a:latin typeface="Noto Serif SC"/>
                <a:ea typeface="Noto Serif SC"/>
                <a:cs typeface="Noto Serif SC"/>
              </a:rPr>
              <a:t>申请进度与基础计划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1EF3FB93-94D3-442A-819E-8EF4B11D24CE}"/>
              </a:ext>
            </a:extLst>
          </p:cNvPr>
          <p:cNvSpPr>
            <a:spLocks noGrp="1"/>
          </p:cNvSpPr>
          <p:nvPr/>
        </p:nvSpPr>
        <p:spPr>
          <a:xfrm>
            <a:off x="3638550" y="4648200"/>
            <a:ext cx="32004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275" b="0" i="0">
                <a:solidFill>
                  <a:srgbClr val="666160"/>
                </a:solidFill>
                <a:latin typeface="Noto Serif SC"/>
                <a:ea typeface="Noto Serif SC"/>
                <a:cs typeface="Noto Serif SC"/>
              </a:defRPr>
            </a:pPr>
            <a:r>
              <a:rPr sz="1275" b="0" i="0">
                <a:solidFill>
                  <a:srgbClr val="666160"/>
                </a:solidFill>
                <a:latin typeface="Noto Serif SC"/>
                <a:ea typeface="Noto Serif SC"/>
                <a:cs typeface="Noto Serif SC"/>
              </a:rPr>
              <a:t>截止日期和时间预算提示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363AACDC-60B0-49AA-8840-344E2ED44433}"/>
              </a:ext>
            </a:extLst>
          </p:cNvPr>
          <p:cNvSpPr>
            <a:spLocks noGrp="1"/>
          </p:cNvSpPr>
          <p:nvPr/>
        </p:nvSpPr>
        <p:spPr>
          <a:xfrm>
            <a:off x="7620000" y="2133600"/>
            <a:ext cx="4038600" cy="3333750"/>
          </a:xfrm>
          <a:prstGeom prst="rect">
            <a:avLst/>
          </a:prstGeom>
          <a:solidFill>
            <a:srgbClr val="F3F2F2"/>
          </a:solidFill>
          <a:ln w="14288">
            <a:solidFill>
              <a:srgbClr val="C9C5C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08D548AA-A78E-4F5F-8D40-D3E123550CCC}"/>
              </a:ext>
            </a:extLst>
          </p:cNvPr>
          <p:cNvSpPr>
            <a:spLocks noGrp="1"/>
          </p:cNvSpPr>
          <p:nvPr/>
        </p:nvSpPr>
        <p:spPr>
          <a:xfrm>
            <a:off x="7905750" y="2381250"/>
            <a:ext cx="1714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2250" b="1" i="0">
                <a:solidFill>
                  <a:srgbClr val="201F1D"/>
                </a:solidFill>
                <a:latin typeface="Noto Serif SC"/>
                <a:ea typeface="Noto Serif SC"/>
                <a:cs typeface="Noto Serif SC"/>
              </a:defRPr>
            </a:pPr>
            <a:r>
              <a:rPr sz="2250" b="1" i="0">
                <a:solidFill>
                  <a:srgbClr val="201F1D"/>
                </a:solidFill>
                <a:latin typeface="Noto Serif SC"/>
                <a:ea typeface="Noto Serif SC"/>
                <a:cs typeface="Noto Serif SC"/>
              </a:rPr>
              <a:t>范围外</a:t>
            </a:r>
          </a:p>
        </p:txBody>
      </p:sp>
      <p:sp>
        <p:nvSpPr>
          <p:cNvPr id="23" name="直接连接符 22">
            <a:extLst>
              <a:ext uri="{FF2B5EF4-FFF2-40B4-BE49-F238E27FC236}">
                <a16:creationId xmlns:a16="http://schemas.microsoft.com/office/drawing/2014/main" id="{FBFD7265-84AD-47B2-8DEC-6A5BEE1BAF54}"/>
              </a:ext>
            </a:extLst>
          </p:cNvPr>
          <p:cNvSpPr>
            <a:spLocks noGrp="1"/>
          </p:cNvSpPr>
          <p:nvPr/>
        </p:nvSpPr>
        <p:spPr>
          <a:xfrm>
            <a:off x="7943850" y="3143250"/>
            <a:ext cx="171450" cy="0"/>
          </a:xfrm>
          <a:prstGeom prst="line">
            <a:avLst/>
          </a:prstGeom>
          <a:noFill/>
          <a:ln w="20955">
            <a:solidFill>
              <a:srgbClr val="C0492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FDFA0BD2-4FFD-490D-BD3D-B26C6C33EC73}"/>
              </a:ext>
            </a:extLst>
          </p:cNvPr>
          <p:cNvSpPr>
            <a:spLocks noGrp="1"/>
          </p:cNvSpPr>
          <p:nvPr/>
        </p:nvSpPr>
        <p:spPr>
          <a:xfrm>
            <a:off x="8248650" y="3028950"/>
            <a:ext cx="29908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350" b="0" i="0">
                <a:solidFill>
                  <a:srgbClr val="666160"/>
                </a:solidFill>
                <a:latin typeface="Noto Serif SC"/>
                <a:ea typeface="Noto Serif SC"/>
                <a:cs typeface="Noto Serif SC"/>
              </a:defRPr>
            </a:pPr>
            <a:r>
              <a:rPr sz="1350" b="0" i="0">
                <a:solidFill>
                  <a:srgbClr val="666160"/>
                </a:solidFill>
                <a:latin typeface="Noto Serif SC"/>
                <a:ea typeface="Noto Serif SC"/>
                <a:cs typeface="Noto Serif SC"/>
              </a:rPr>
              <a:t>自动提交申请</a:t>
            </a:r>
          </a:p>
        </p:txBody>
      </p:sp>
      <p:sp>
        <p:nvSpPr>
          <p:cNvPr id="25" name="直接连接符 24">
            <a:extLst>
              <a:ext uri="{FF2B5EF4-FFF2-40B4-BE49-F238E27FC236}">
                <a16:creationId xmlns:a16="http://schemas.microsoft.com/office/drawing/2014/main" id="{E0D50141-16B8-416C-895E-D67AC6D585AE}"/>
              </a:ext>
            </a:extLst>
          </p:cNvPr>
          <p:cNvSpPr>
            <a:spLocks noGrp="1"/>
          </p:cNvSpPr>
          <p:nvPr/>
        </p:nvSpPr>
        <p:spPr>
          <a:xfrm>
            <a:off x="7943850" y="3543300"/>
            <a:ext cx="171450" cy="0"/>
          </a:xfrm>
          <a:prstGeom prst="line">
            <a:avLst/>
          </a:prstGeom>
          <a:noFill/>
          <a:ln w="20955">
            <a:solidFill>
              <a:srgbClr val="C0492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8A8A3D85-011A-40B6-BE6E-82832C06BF1D}"/>
              </a:ext>
            </a:extLst>
          </p:cNvPr>
          <p:cNvSpPr>
            <a:spLocks noGrp="1"/>
          </p:cNvSpPr>
          <p:nvPr/>
        </p:nvSpPr>
        <p:spPr>
          <a:xfrm>
            <a:off x="8248650" y="3429000"/>
            <a:ext cx="29908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350" b="0" i="0">
                <a:solidFill>
                  <a:srgbClr val="666160"/>
                </a:solidFill>
                <a:latin typeface="Noto Serif SC"/>
                <a:ea typeface="Noto Serif SC"/>
                <a:cs typeface="Noto Serif SC"/>
              </a:defRPr>
            </a:pPr>
            <a:r>
              <a:rPr sz="1350" b="0" i="0">
                <a:solidFill>
                  <a:srgbClr val="666160"/>
                </a:solidFill>
                <a:latin typeface="Noto Serif SC"/>
                <a:ea typeface="Noto Serif SC"/>
                <a:cs typeface="Noto Serif SC"/>
              </a:rPr>
              <a:t>保证面试或 offer</a:t>
            </a:r>
          </a:p>
        </p:txBody>
      </p:sp>
      <p:sp>
        <p:nvSpPr>
          <p:cNvPr id="27" name="直接连接符 26">
            <a:extLst>
              <a:ext uri="{FF2B5EF4-FFF2-40B4-BE49-F238E27FC236}">
                <a16:creationId xmlns:a16="http://schemas.microsoft.com/office/drawing/2014/main" id="{AFCD6A1E-A06A-44C2-B185-901FB48D736D}"/>
              </a:ext>
            </a:extLst>
          </p:cNvPr>
          <p:cNvSpPr>
            <a:spLocks noGrp="1"/>
          </p:cNvSpPr>
          <p:nvPr/>
        </p:nvSpPr>
        <p:spPr>
          <a:xfrm>
            <a:off x="7943850" y="3943350"/>
            <a:ext cx="171450" cy="0"/>
          </a:xfrm>
          <a:prstGeom prst="line">
            <a:avLst/>
          </a:prstGeom>
          <a:noFill/>
          <a:ln w="20955">
            <a:solidFill>
              <a:srgbClr val="C0492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5B322A26-1E62-4672-9E66-82569C611A65}"/>
              </a:ext>
            </a:extLst>
          </p:cNvPr>
          <p:cNvSpPr>
            <a:spLocks noGrp="1"/>
          </p:cNvSpPr>
          <p:nvPr/>
        </p:nvSpPr>
        <p:spPr>
          <a:xfrm>
            <a:off x="8248650" y="3829050"/>
            <a:ext cx="29908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350" b="0" i="0">
                <a:solidFill>
                  <a:srgbClr val="666160"/>
                </a:solidFill>
                <a:latin typeface="Noto Serif SC"/>
                <a:ea typeface="Noto Serif SC"/>
                <a:cs typeface="Noto Serif SC"/>
              </a:defRPr>
            </a:pPr>
            <a:r>
              <a:rPr sz="1350" b="0" i="0">
                <a:solidFill>
                  <a:srgbClr val="666160"/>
                </a:solidFill>
                <a:latin typeface="Noto Serif SC"/>
                <a:ea typeface="Noto Serif SC"/>
                <a:cs typeface="Noto Serif SC"/>
              </a:rPr>
              <a:t>虚构学生经历</a:t>
            </a:r>
          </a:p>
        </p:txBody>
      </p:sp>
      <p:sp>
        <p:nvSpPr>
          <p:cNvPr id="29" name="直接连接符 28">
            <a:extLst>
              <a:ext uri="{FF2B5EF4-FFF2-40B4-BE49-F238E27FC236}">
                <a16:creationId xmlns:a16="http://schemas.microsoft.com/office/drawing/2014/main" id="{6909BB74-A0F5-41E6-B1F0-ABCA8B090EBB}"/>
              </a:ext>
            </a:extLst>
          </p:cNvPr>
          <p:cNvSpPr>
            <a:spLocks noGrp="1"/>
          </p:cNvSpPr>
          <p:nvPr/>
        </p:nvSpPr>
        <p:spPr>
          <a:xfrm>
            <a:off x="7943850" y="4343400"/>
            <a:ext cx="171450" cy="0"/>
          </a:xfrm>
          <a:prstGeom prst="line">
            <a:avLst/>
          </a:prstGeom>
          <a:noFill/>
          <a:ln w="20955">
            <a:solidFill>
              <a:srgbClr val="C0492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AB5D6CA4-96F8-4087-B05B-015ADE6B1D75}"/>
              </a:ext>
            </a:extLst>
          </p:cNvPr>
          <p:cNvSpPr>
            <a:spLocks noGrp="1"/>
          </p:cNvSpPr>
          <p:nvPr/>
        </p:nvSpPr>
        <p:spPr>
          <a:xfrm>
            <a:off x="8248650" y="4229100"/>
            <a:ext cx="29908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350" b="0" i="0">
                <a:solidFill>
                  <a:srgbClr val="666160"/>
                </a:solidFill>
                <a:latin typeface="Noto Serif SC"/>
                <a:ea typeface="Noto Serif SC"/>
                <a:cs typeface="Noto Serif SC"/>
              </a:defRPr>
            </a:pPr>
            <a:r>
              <a:rPr sz="1350" b="0" i="0">
                <a:solidFill>
                  <a:srgbClr val="666160"/>
                </a:solidFill>
                <a:latin typeface="Noto Serif SC"/>
                <a:ea typeface="Noto Serif SC"/>
                <a:cs typeface="Noto Serif SC"/>
              </a:rPr>
              <a:t>非 IT 及中高级岗位</a:t>
            </a:r>
          </a:p>
        </p:txBody>
      </p:sp>
      <p:sp>
        <p:nvSpPr>
          <p:cNvPr id="31" name="直接连接符 30">
            <a:extLst>
              <a:ext uri="{FF2B5EF4-FFF2-40B4-BE49-F238E27FC236}">
                <a16:creationId xmlns:a16="http://schemas.microsoft.com/office/drawing/2014/main" id="{BEF34CD1-C441-44BA-9541-08040A1E91EA}"/>
              </a:ext>
            </a:extLst>
          </p:cNvPr>
          <p:cNvSpPr>
            <a:spLocks noGrp="1"/>
          </p:cNvSpPr>
          <p:nvPr/>
        </p:nvSpPr>
        <p:spPr>
          <a:xfrm>
            <a:off x="7943850" y="4743450"/>
            <a:ext cx="171450" cy="0"/>
          </a:xfrm>
          <a:prstGeom prst="line">
            <a:avLst/>
          </a:prstGeom>
          <a:noFill/>
          <a:ln w="20955">
            <a:solidFill>
              <a:srgbClr val="C0492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95B8C579-344E-433C-A688-D23D8FC0C67B}"/>
              </a:ext>
            </a:extLst>
          </p:cNvPr>
          <p:cNvSpPr>
            <a:spLocks noGrp="1"/>
          </p:cNvSpPr>
          <p:nvPr/>
        </p:nvSpPr>
        <p:spPr>
          <a:xfrm>
            <a:off x="8248650" y="4629150"/>
            <a:ext cx="29908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350" b="0" i="0">
                <a:solidFill>
                  <a:srgbClr val="666160"/>
                </a:solidFill>
                <a:latin typeface="Noto Serif SC"/>
                <a:ea typeface="Noto Serif SC"/>
                <a:cs typeface="Noto Serif SC"/>
              </a:defRPr>
            </a:pPr>
            <a:r>
              <a:rPr sz="1350" b="0" i="0">
                <a:solidFill>
                  <a:srgbClr val="666160"/>
                </a:solidFill>
                <a:latin typeface="Noto Serif SC"/>
                <a:ea typeface="Noto Serif SC"/>
                <a:cs typeface="Noto Serif SC"/>
              </a:rPr>
              <a:t>大规模抓取商业平台</a:t>
            </a:r>
          </a:p>
        </p:txBody>
      </p:sp>
      <p:sp>
        <p:nvSpPr>
          <p:cNvPr id="33" name="直接连接符 32">
            <a:extLst>
              <a:ext uri="{FF2B5EF4-FFF2-40B4-BE49-F238E27FC236}">
                <a16:creationId xmlns:a16="http://schemas.microsoft.com/office/drawing/2014/main" id="{EBF3DA9B-375C-49CB-8BFB-C5EDFE4C1E41}"/>
              </a:ext>
            </a:extLst>
          </p:cNvPr>
          <p:cNvSpPr>
            <a:spLocks noGrp="1"/>
          </p:cNvSpPr>
          <p:nvPr/>
        </p:nvSpPr>
        <p:spPr>
          <a:xfrm>
            <a:off x="7943850" y="5143500"/>
            <a:ext cx="171450" cy="0"/>
          </a:xfrm>
          <a:prstGeom prst="line">
            <a:avLst/>
          </a:prstGeom>
          <a:noFill/>
          <a:ln w="20955">
            <a:solidFill>
              <a:srgbClr val="C0492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F23F321E-D231-4C28-AC59-F9B347C4383F}"/>
              </a:ext>
            </a:extLst>
          </p:cNvPr>
          <p:cNvSpPr>
            <a:spLocks noGrp="1"/>
          </p:cNvSpPr>
          <p:nvPr/>
        </p:nvSpPr>
        <p:spPr>
          <a:xfrm>
            <a:off x="8248650" y="5029200"/>
            <a:ext cx="29908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350" b="0" i="0">
                <a:solidFill>
                  <a:srgbClr val="666160"/>
                </a:solidFill>
                <a:latin typeface="Noto Serif SC"/>
                <a:ea typeface="Noto Serif SC"/>
                <a:cs typeface="Noto Serif SC"/>
              </a:defRPr>
            </a:pPr>
            <a:r>
              <a:rPr sz="1350" b="0" i="0">
                <a:solidFill>
                  <a:srgbClr val="666160"/>
                </a:solidFill>
                <a:latin typeface="Noto Serif SC"/>
                <a:ea typeface="Noto Serif SC"/>
                <a:cs typeface="Noto Serif SC"/>
              </a:rPr>
              <a:t>首版中文简历与 JD</a:t>
            </a: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9FE98E1B-270A-4D6D-8E2D-2C6FBBE8955A}"/>
              </a:ext>
            </a:extLst>
          </p:cNvPr>
          <p:cNvSpPr>
            <a:spLocks noGrp="1"/>
          </p:cNvSpPr>
          <p:nvPr/>
        </p:nvSpPr>
        <p:spPr>
          <a:xfrm>
            <a:off x="552450" y="5810250"/>
            <a:ext cx="1333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350" b="1" i="0">
                <a:solidFill>
                  <a:srgbClr val="7D5411"/>
                </a:solidFill>
                <a:latin typeface="Noto Serif SC"/>
                <a:ea typeface="Noto Serif SC"/>
                <a:cs typeface="Noto Serif SC"/>
              </a:defRPr>
            </a:pPr>
            <a:r>
              <a:rPr sz="1350" b="1" i="0">
                <a:solidFill>
                  <a:srgbClr val="7D5411"/>
                </a:solidFill>
                <a:latin typeface="Noto Serif SC"/>
                <a:ea typeface="Noto Serif SC"/>
                <a:cs typeface="Noto Serif SC"/>
              </a:rPr>
              <a:t>MVP 原则</a:t>
            </a: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9016CF00-18CD-4B5F-8AE0-A56D8805CDC5}"/>
              </a:ext>
            </a:extLst>
          </p:cNvPr>
          <p:cNvSpPr>
            <a:spLocks noGrp="1"/>
          </p:cNvSpPr>
          <p:nvPr/>
        </p:nvSpPr>
        <p:spPr>
          <a:xfrm>
            <a:off x="1866900" y="5772150"/>
            <a:ext cx="88582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725" b="0" i="0">
                <a:solidFill>
                  <a:srgbClr val="201F1D"/>
                </a:solidFill>
                <a:latin typeface="Noto Serif SC"/>
                <a:ea typeface="Noto Serif SC"/>
                <a:cs typeface="Noto Serif SC"/>
              </a:defRPr>
            </a:pPr>
            <a:r>
              <a:rPr sz="1725" b="0" i="0">
                <a:solidFill>
                  <a:srgbClr val="201F1D"/>
                </a:solidFill>
                <a:latin typeface="Noto Serif SC"/>
                <a:ea typeface="Noto Serif SC"/>
                <a:cs typeface="Noto Serif SC"/>
              </a:rPr>
              <a:t>深度优先于行业覆盖面；可解释建议优先于全自动执行</a:t>
            </a:r>
          </a:p>
        </p:txBody>
      </p:sp>
    </p:spTree>
    <p:extLst>
      <p:ext uri="{BB962C8B-B14F-4D97-AF65-F5344CB8AC3E}">
        <p14:creationId xmlns:p14="http://schemas.microsoft.com/office/powerpoint/2010/main" val="96092742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矩形 28">
            <a:extLst>
              <a:ext uri="{FF2B5EF4-FFF2-40B4-BE49-F238E27FC236}">
                <a16:creationId xmlns:a16="http://schemas.microsoft.com/office/drawing/2014/main" id="{AB7BABC4-D5F9-4B40-9E5F-4F84B35FB699}"/>
              </a:ext>
            </a:extLst>
          </p:cNvPr>
          <p:cNvSpPr>
            <a:spLocks noGrp="1"/>
          </p:cNvSpPr>
          <p:nvPr/>
        </p:nvSpPr>
        <p:spPr>
          <a:xfrm>
            <a:off x="533400" y="266700"/>
            <a:ext cx="1714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575" b="1" i="0">
                <a:solidFill>
                  <a:srgbClr val="201F1D"/>
                </a:solidFill>
                <a:latin typeface="Georgia"/>
                <a:ea typeface="Georgia"/>
                <a:cs typeface="Georgia"/>
              </a:defRPr>
            </a:pPr>
            <a:r>
              <a:rPr sz="1575" b="1" i="0">
                <a:solidFill>
                  <a:srgbClr val="201F1D"/>
                </a:solidFill>
                <a:latin typeface="Georgia"/>
                <a:ea typeface="Georgia"/>
                <a:cs typeface="Georgia"/>
              </a:rPr>
              <a:t>CareerPilot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DE213D22-7BF4-4A6F-AFB8-5874CAECB5FF}"/>
              </a:ext>
            </a:extLst>
          </p:cNvPr>
          <p:cNvSpPr>
            <a:spLocks noGrp="1"/>
          </p:cNvSpPr>
          <p:nvPr/>
        </p:nvSpPr>
        <p:spPr>
          <a:xfrm>
            <a:off x="8572500" y="285750"/>
            <a:ext cx="30861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defRPr sz="975" b="0" i="0">
                <a:solidFill>
                  <a:srgbClr val="7D5411"/>
                </a:solidFill>
                <a:latin typeface="Georgia"/>
                <a:ea typeface="Georgia"/>
                <a:cs typeface="Georgia"/>
              </a:defRPr>
            </a:pPr>
            <a:r>
              <a:rPr sz="975" b="0" i="0">
                <a:solidFill>
                  <a:srgbClr val="7D5411"/>
                </a:solidFill>
                <a:latin typeface="Georgia"/>
                <a:ea typeface="Georgia"/>
                <a:cs typeface="Georgia"/>
              </a:rPr>
              <a:t>SYSTEM ARCHITECTURE</a:t>
            </a:r>
          </a:p>
        </p:txBody>
      </p:sp>
      <p:sp>
        <p:nvSpPr>
          <p:cNvPr id="3" name="直接连接符 2">
            <a:extLst>
              <a:ext uri="{FF2B5EF4-FFF2-40B4-BE49-F238E27FC236}">
                <a16:creationId xmlns:a16="http://schemas.microsoft.com/office/drawing/2014/main" id="{7B77A8E9-B7D4-4CD3-8645-E59594829F7B}"/>
              </a:ext>
            </a:extLst>
          </p:cNvPr>
          <p:cNvSpPr>
            <a:spLocks noGrp="1"/>
          </p:cNvSpPr>
          <p:nvPr/>
        </p:nvSpPr>
        <p:spPr>
          <a:xfrm>
            <a:off x="533400" y="685800"/>
            <a:ext cx="11125200" cy="0"/>
          </a:xfrm>
          <a:prstGeom prst="line">
            <a:avLst/>
          </a:prstGeom>
          <a:noFill/>
          <a:ln w="9525">
            <a:solidFill>
              <a:srgbClr val="C9C5C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D263D39E-C16D-44AC-B8D7-177266B9D69C}"/>
              </a:ext>
            </a:extLst>
          </p:cNvPr>
          <p:cNvSpPr>
            <a:spLocks noGrp="1"/>
          </p:cNvSpPr>
          <p:nvPr/>
        </p:nvSpPr>
        <p:spPr>
          <a:xfrm>
            <a:off x="533400" y="914400"/>
            <a:ext cx="106680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3450" b="0" i="0">
                <a:solidFill>
                  <a:srgbClr val="201F1D"/>
                </a:solidFill>
                <a:latin typeface="Noto Serif SC"/>
                <a:ea typeface="Noto Serif SC"/>
                <a:cs typeface="Noto Serif SC"/>
              </a:defRPr>
            </a:pPr>
            <a:r>
              <a:rPr sz="3450" b="0" i="0">
                <a:solidFill>
                  <a:srgbClr val="201F1D"/>
                </a:solidFill>
                <a:latin typeface="Noto Serif SC"/>
                <a:ea typeface="Noto Serif SC"/>
                <a:cs typeface="Noto Serif SC"/>
              </a:rPr>
              <a:t>系统框架与技术栈对应关系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8C7659E-5F7A-435A-B8A5-CE5A0DDD4FD0}"/>
              </a:ext>
            </a:extLst>
          </p:cNvPr>
          <p:cNvSpPr>
            <a:spLocks noGrp="1"/>
          </p:cNvSpPr>
          <p:nvPr/>
        </p:nvSpPr>
        <p:spPr>
          <a:xfrm>
            <a:off x="11182350" y="6305550"/>
            <a:ext cx="476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defRPr sz="1125" b="0" i="0">
                <a:solidFill>
                  <a:srgbClr val="B68235"/>
                </a:solidFill>
                <a:latin typeface="Georgia"/>
                <a:ea typeface="Georgia"/>
                <a:cs typeface="Georgia"/>
              </a:defRPr>
            </a:pPr>
            <a:r>
              <a:rPr sz="1125" b="0" i="0">
                <a:solidFill>
                  <a:srgbClr val="B68235"/>
                </a:solidFill>
                <a:latin typeface="Georgia"/>
                <a:ea typeface="Georgia"/>
                <a:cs typeface="Georgia"/>
              </a:rPr>
              <a:t>07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5247A24B-1A16-4B12-9A45-420293A675AC}"/>
              </a:ext>
            </a:extLst>
          </p:cNvPr>
          <p:cNvSpPr>
            <a:spLocks noGrp="1"/>
          </p:cNvSpPr>
          <p:nvPr/>
        </p:nvSpPr>
        <p:spPr>
          <a:xfrm>
            <a:off x="552450" y="1524000"/>
            <a:ext cx="8572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500" b="0" i="0">
                <a:solidFill>
                  <a:srgbClr val="666160"/>
                </a:solidFill>
                <a:latin typeface="Noto Serif SC"/>
                <a:ea typeface="Noto Serif SC"/>
                <a:cs typeface="Noto Serif SC"/>
              </a:defRPr>
            </a:pPr>
            <a:r>
              <a:rPr sz="1500" b="0" i="0">
                <a:solidFill>
                  <a:srgbClr val="666160"/>
                </a:solidFill>
                <a:latin typeface="Noto Serif SC"/>
                <a:ea typeface="Noto Serif SC"/>
                <a:cs typeface="Noto Serif SC"/>
              </a:rPr>
              <a:t>模块化分层让推荐依据、生成内容和数据来源都可以追踪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DC631AC4-9549-48F5-AE78-CDA996C0E9D8}"/>
              </a:ext>
            </a:extLst>
          </p:cNvPr>
          <p:cNvSpPr>
            <a:spLocks noGrp="1"/>
          </p:cNvSpPr>
          <p:nvPr/>
        </p:nvSpPr>
        <p:spPr>
          <a:xfrm>
            <a:off x="533400" y="2076450"/>
            <a:ext cx="11125200" cy="628650"/>
          </a:xfrm>
          <a:prstGeom prst="rect">
            <a:avLst/>
          </a:prstGeom>
          <a:solidFill>
            <a:srgbClr val="EAE9E9"/>
          </a:solidFill>
          <a:ln w="9525">
            <a:solidFill>
              <a:srgbClr val="C9C5C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0000A920-1CB7-45CC-9FC3-C186847930AB}"/>
              </a:ext>
            </a:extLst>
          </p:cNvPr>
          <p:cNvSpPr>
            <a:spLocks noGrp="1"/>
          </p:cNvSpPr>
          <p:nvPr/>
        </p:nvSpPr>
        <p:spPr>
          <a:xfrm>
            <a:off x="762000" y="2219325"/>
            <a:ext cx="1714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725" b="1" i="0">
                <a:solidFill>
                  <a:srgbClr val="201F1D"/>
                </a:solidFill>
                <a:latin typeface="Noto Serif SC"/>
                <a:ea typeface="Noto Serif SC"/>
                <a:cs typeface="Noto Serif SC"/>
              </a:defRPr>
            </a:pPr>
            <a:r>
              <a:rPr sz="1725" b="1" i="0">
                <a:solidFill>
                  <a:srgbClr val="201F1D"/>
                </a:solidFill>
                <a:latin typeface="Noto Serif SC"/>
                <a:ea typeface="Noto Serif SC"/>
                <a:cs typeface="Noto Serif SC"/>
              </a:rPr>
              <a:t>用户界面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F5B02728-1566-4A1E-9B2F-8ED3CE594581}"/>
              </a:ext>
            </a:extLst>
          </p:cNvPr>
          <p:cNvSpPr>
            <a:spLocks noGrp="1"/>
          </p:cNvSpPr>
          <p:nvPr/>
        </p:nvSpPr>
        <p:spPr>
          <a:xfrm>
            <a:off x="2590800" y="2219325"/>
            <a:ext cx="5238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350" b="0" i="0">
                <a:solidFill>
                  <a:srgbClr val="201F1D"/>
                </a:solidFill>
                <a:latin typeface="Noto Serif SC"/>
                <a:ea typeface="Noto Serif SC"/>
                <a:cs typeface="Noto Serif SC"/>
              </a:defRPr>
            </a:pPr>
            <a:r>
              <a:rPr sz="1350" b="0" i="0">
                <a:solidFill>
                  <a:srgbClr val="201F1D"/>
                </a:solidFill>
                <a:latin typeface="Noto Serif SC"/>
                <a:ea typeface="Noto Serif SC"/>
                <a:cs typeface="Noto Serif SC"/>
              </a:rPr>
              <a:t>推荐列表 · 简历审阅 · 模拟面试 · 目标岗位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8BA082E4-3CC1-445B-951B-E48DF983AEC9}"/>
              </a:ext>
            </a:extLst>
          </p:cNvPr>
          <p:cNvSpPr>
            <a:spLocks noGrp="1"/>
          </p:cNvSpPr>
          <p:nvPr/>
        </p:nvSpPr>
        <p:spPr>
          <a:xfrm>
            <a:off x="8058150" y="2219325"/>
            <a:ext cx="32766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r">
              <a:defRPr sz="1200" b="0" i="0">
                <a:solidFill>
                  <a:srgbClr val="7D5411"/>
                </a:solidFill>
                <a:latin typeface="Georgia"/>
                <a:ea typeface="Georgia"/>
                <a:cs typeface="Georgia"/>
              </a:defRPr>
            </a:pPr>
            <a:r>
              <a:rPr sz="1200" b="0" i="0">
                <a:solidFill>
                  <a:srgbClr val="7D5411"/>
                </a:solidFill>
                <a:latin typeface="Georgia"/>
                <a:ea typeface="Georgia"/>
                <a:cs typeface="Georgia"/>
              </a:rPr>
              <a:t>React / TypeScript / HTML demo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5BA13015-2173-456E-93B3-0F33625AC8B8}"/>
              </a:ext>
            </a:extLst>
          </p:cNvPr>
          <p:cNvSpPr>
            <a:spLocks noGrp="1"/>
          </p:cNvSpPr>
          <p:nvPr/>
        </p:nvSpPr>
        <p:spPr>
          <a:xfrm>
            <a:off x="533400" y="2819400"/>
            <a:ext cx="11125200" cy="552450"/>
          </a:xfrm>
          <a:prstGeom prst="rect">
            <a:avLst/>
          </a:prstGeom>
          <a:solidFill>
            <a:srgbClr val="F3F2F2"/>
          </a:solidFill>
          <a:ln w="9525">
            <a:solidFill>
              <a:srgbClr val="C9C5C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A4473690-2B9F-4C72-B8DB-81E2B4E68F69}"/>
              </a:ext>
            </a:extLst>
          </p:cNvPr>
          <p:cNvSpPr>
            <a:spLocks noGrp="1"/>
          </p:cNvSpPr>
          <p:nvPr/>
        </p:nvSpPr>
        <p:spPr>
          <a:xfrm>
            <a:off x="762000" y="2962275"/>
            <a:ext cx="1714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725" b="1" i="0">
                <a:solidFill>
                  <a:srgbClr val="201F1D"/>
                </a:solidFill>
                <a:latin typeface="Noto Serif SC"/>
                <a:ea typeface="Noto Serif SC"/>
                <a:cs typeface="Noto Serif SC"/>
              </a:defRPr>
            </a:pPr>
            <a:r>
              <a:rPr sz="1725" b="1" i="0">
                <a:solidFill>
                  <a:srgbClr val="201F1D"/>
                </a:solidFill>
                <a:latin typeface="Noto Serif SC"/>
                <a:ea typeface="Noto Serif SC"/>
                <a:cs typeface="Noto Serif SC"/>
              </a:rPr>
              <a:t>服务编排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13BBAC43-D21E-46CD-AE85-008E72599C60}"/>
              </a:ext>
            </a:extLst>
          </p:cNvPr>
          <p:cNvSpPr>
            <a:spLocks noGrp="1"/>
          </p:cNvSpPr>
          <p:nvPr/>
        </p:nvSpPr>
        <p:spPr>
          <a:xfrm>
            <a:off x="2590800" y="2962275"/>
            <a:ext cx="5238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350" b="0" i="0">
                <a:solidFill>
                  <a:srgbClr val="201F1D"/>
                </a:solidFill>
                <a:latin typeface="Noto Serif SC"/>
                <a:ea typeface="Noto Serif SC"/>
                <a:cs typeface="Noto Serif SC"/>
              </a:defRPr>
            </a:pPr>
            <a:r>
              <a:rPr sz="1350" b="0" i="0">
                <a:solidFill>
                  <a:srgbClr val="201F1D"/>
                </a:solidFill>
                <a:latin typeface="Noto Serif SC"/>
                <a:ea typeface="Noto Serif SC"/>
                <a:cs typeface="Noto Serif SC"/>
              </a:rPr>
              <a:t>统一接口与任务协调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D7B2D90F-DF73-4130-8453-42985A81C0A1}"/>
              </a:ext>
            </a:extLst>
          </p:cNvPr>
          <p:cNvSpPr>
            <a:spLocks noGrp="1"/>
          </p:cNvSpPr>
          <p:nvPr/>
        </p:nvSpPr>
        <p:spPr>
          <a:xfrm>
            <a:off x="8058150" y="2962275"/>
            <a:ext cx="32766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r">
              <a:defRPr sz="1200" b="0" i="0">
                <a:solidFill>
                  <a:srgbClr val="7D5411"/>
                </a:solidFill>
                <a:latin typeface="Noto Serif SC"/>
                <a:ea typeface="Noto Serif SC"/>
                <a:cs typeface="Noto Serif SC"/>
              </a:defRPr>
            </a:pPr>
            <a:r>
              <a:rPr sz="1200" b="0" i="0">
                <a:solidFill>
                  <a:srgbClr val="7D5411"/>
                </a:solidFill>
                <a:latin typeface="Noto Serif SC"/>
                <a:ea typeface="Noto Serif SC"/>
                <a:cs typeface="Noto Serif SC"/>
              </a:rPr>
              <a:t>Python 3.11 · FastAPI · LangChain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E1AEF214-D3A0-4952-91C0-E4A4A4EA9CFE}"/>
              </a:ext>
            </a:extLst>
          </p:cNvPr>
          <p:cNvSpPr>
            <a:spLocks noGrp="1"/>
          </p:cNvSpPr>
          <p:nvPr/>
        </p:nvSpPr>
        <p:spPr>
          <a:xfrm>
            <a:off x="533400" y="3486150"/>
            <a:ext cx="11125200" cy="781050"/>
          </a:xfrm>
          <a:prstGeom prst="rect">
            <a:avLst/>
          </a:prstGeom>
          <a:solidFill>
            <a:srgbClr val="FFF3E4"/>
          </a:solidFill>
          <a:ln w="17145">
            <a:solidFill>
              <a:srgbClr val="B6823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D13C4C74-48C3-483E-A6A1-F569351F98DE}"/>
              </a:ext>
            </a:extLst>
          </p:cNvPr>
          <p:cNvSpPr>
            <a:spLocks noGrp="1"/>
          </p:cNvSpPr>
          <p:nvPr/>
        </p:nvSpPr>
        <p:spPr>
          <a:xfrm>
            <a:off x="762000" y="3629025"/>
            <a:ext cx="17145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725" b="1" i="0">
                <a:solidFill>
                  <a:srgbClr val="C0492F"/>
                </a:solidFill>
                <a:latin typeface="Noto Serif SC"/>
                <a:ea typeface="Noto Serif SC"/>
                <a:cs typeface="Noto Serif SC"/>
              </a:defRPr>
            </a:pPr>
            <a:r>
              <a:rPr sz="1725" b="1" i="0">
                <a:solidFill>
                  <a:srgbClr val="C0492F"/>
                </a:solidFill>
                <a:latin typeface="Noto Serif SC"/>
                <a:ea typeface="Noto Serif SC"/>
                <a:cs typeface="Noto Serif SC"/>
              </a:rPr>
              <a:t>推理与生成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6752AB7D-1F59-4EFB-B6DE-B20E09E5F18F}"/>
              </a:ext>
            </a:extLst>
          </p:cNvPr>
          <p:cNvSpPr>
            <a:spLocks noGrp="1"/>
          </p:cNvSpPr>
          <p:nvPr/>
        </p:nvSpPr>
        <p:spPr>
          <a:xfrm>
            <a:off x="2590800" y="3629025"/>
            <a:ext cx="52387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350" b="0" i="0">
                <a:solidFill>
                  <a:srgbClr val="201F1D"/>
                </a:solidFill>
                <a:latin typeface="Noto Serif SC"/>
                <a:ea typeface="Noto Serif SC"/>
                <a:cs typeface="Noto Serif SC"/>
              </a:defRPr>
            </a:pPr>
            <a:r>
              <a:rPr sz="1350" b="0" i="0">
                <a:solidFill>
                  <a:srgbClr val="201F1D"/>
                </a:solidFill>
                <a:latin typeface="Noto Serif SC"/>
                <a:ea typeface="Noto Serif SC"/>
                <a:cs typeface="Noto Serif SC"/>
              </a:rPr>
              <a:t>规则筛选 · 语义排序 · 技能图谱 · 受约束生成 · 计划建议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005CDF92-B4F5-4461-BB03-BF7AAD8EDC3B}"/>
              </a:ext>
            </a:extLst>
          </p:cNvPr>
          <p:cNvSpPr>
            <a:spLocks noGrp="1"/>
          </p:cNvSpPr>
          <p:nvPr/>
        </p:nvSpPr>
        <p:spPr>
          <a:xfrm>
            <a:off x="8058150" y="3629025"/>
            <a:ext cx="32766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r">
              <a:defRPr sz="1200" b="0" i="0">
                <a:solidFill>
                  <a:srgbClr val="7D5411"/>
                </a:solidFill>
                <a:latin typeface="Noto Serif SC"/>
                <a:ea typeface="Noto Serif SC"/>
                <a:cs typeface="Noto Serif SC"/>
              </a:defRPr>
            </a:pPr>
            <a:r>
              <a:rPr sz="1200" b="0" i="0">
                <a:solidFill>
                  <a:srgbClr val="7D5411"/>
                </a:solidFill>
                <a:latin typeface="Noto Serif SC"/>
                <a:ea typeface="Noto Serif SC"/>
                <a:cs typeface="Noto Serif SC"/>
              </a:rPr>
              <a:t>Experta · Sentence-BERT · PyKEEN · LLM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0E75A1BD-3680-498B-8B51-5879884BD80C}"/>
              </a:ext>
            </a:extLst>
          </p:cNvPr>
          <p:cNvSpPr>
            <a:spLocks noGrp="1"/>
          </p:cNvSpPr>
          <p:nvPr/>
        </p:nvSpPr>
        <p:spPr>
          <a:xfrm>
            <a:off x="533400" y="4381500"/>
            <a:ext cx="11125200" cy="628650"/>
          </a:xfrm>
          <a:prstGeom prst="rect">
            <a:avLst/>
          </a:prstGeom>
          <a:solidFill>
            <a:srgbClr val="EAE9E9"/>
          </a:solidFill>
          <a:ln w="9525">
            <a:solidFill>
              <a:srgbClr val="C9C5C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900CFB4C-D1E9-4647-8F98-1F246F287E7E}"/>
              </a:ext>
            </a:extLst>
          </p:cNvPr>
          <p:cNvSpPr>
            <a:spLocks noGrp="1"/>
          </p:cNvSpPr>
          <p:nvPr/>
        </p:nvSpPr>
        <p:spPr>
          <a:xfrm>
            <a:off x="762000" y="4524375"/>
            <a:ext cx="1714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725" b="1" i="0">
                <a:solidFill>
                  <a:srgbClr val="201F1D"/>
                </a:solidFill>
                <a:latin typeface="Noto Serif SC"/>
                <a:ea typeface="Noto Serif SC"/>
                <a:cs typeface="Noto Serif SC"/>
              </a:defRPr>
            </a:pPr>
            <a:r>
              <a:rPr sz="1725" b="1" i="0">
                <a:solidFill>
                  <a:srgbClr val="201F1D"/>
                </a:solidFill>
                <a:latin typeface="Noto Serif SC"/>
                <a:ea typeface="Noto Serif SC"/>
                <a:cs typeface="Noto Serif SC"/>
              </a:rPr>
              <a:t>数据与知识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92A1D98B-C2BC-4627-B842-4C7D31738A57}"/>
              </a:ext>
            </a:extLst>
          </p:cNvPr>
          <p:cNvSpPr>
            <a:spLocks noGrp="1"/>
          </p:cNvSpPr>
          <p:nvPr/>
        </p:nvSpPr>
        <p:spPr>
          <a:xfrm>
            <a:off x="2590800" y="4524375"/>
            <a:ext cx="5238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350" b="0" i="0">
                <a:solidFill>
                  <a:srgbClr val="201F1D"/>
                </a:solidFill>
                <a:latin typeface="Noto Serif SC"/>
                <a:ea typeface="Noto Serif SC"/>
                <a:cs typeface="Noto Serif SC"/>
              </a:defRPr>
            </a:pPr>
            <a:r>
              <a:rPr sz="1350" b="0" i="0">
                <a:solidFill>
                  <a:srgbClr val="201F1D"/>
                </a:solidFill>
                <a:latin typeface="Noto Serif SC"/>
                <a:ea typeface="Noto Serif SC"/>
                <a:cs typeface="Noto Serif SC"/>
              </a:rPr>
              <a:t>学生画像 · 岗位画像 · 技能关系 · 证据片段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DDEE0448-0A46-4D3E-92A5-454284C05E79}"/>
              </a:ext>
            </a:extLst>
          </p:cNvPr>
          <p:cNvSpPr>
            <a:spLocks noGrp="1"/>
          </p:cNvSpPr>
          <p:nvPr/>
        </p:nvSpPr>
        <p:spPr>
          <a:xfrm>
            <a:off x="8058150" y="4524375"/>
            <a:ext cx="32766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r">
              <a:defRPr sz="1200" b="0" i="0">
                <a:solidFill>
                  <a:srgbClr val="7D5411"/>
                </a:solidFill>
                <a:latin typeface="Noto Serif SC"/>
                <a:ea typeface="Noto Serif SC"/>
                <a:cs typeface="Noto Serif SC"/>
              </a:defRPr>
            </a:pPr>
            <a:r>
              <a:rPr sz="1200" b="0" i="0">
                <a:solidFill>
                  <a:srgbClr val="7D5411"/>
                </a:solidFill>
                <a:latin typeface="Noto Serif SC"/>
                <a:ea typeface="Noto Serif SC"/>
                <a:cs typeface="Noto Serif SC"/>
              </a:rPr>
              <a:t>spaCy · Neo4j · ChromaDB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286E9D39-E659-4299-B45A-02ACF52CA8DE}"/>
              </a:ext>
            </a:extLst>
          </p:cNvPr>
          <p:cNvSpPr>
            <a:spLocks noGrp="1"/>
          </p:cNvSpPr>
          <p:nvPr/>
        </p:nvSpPr>
        <p:spPr>
          <a:xfrm>
            <a:off x="533400" y="5124450"/>
            <a:ext cx="11125200" cy="552450"/>
          </a:xfrm>
          <a:prstGeom prst="rect">
            <a:avLst/>
          </a:prstGeom>
          <a:solidFill>
            <a:srgbClr val="F3F2F2"/>
          </a:solidFill>
          <a:ln w="9525">
            <a:solidFill>
              <a:srgbClr val="C9C5C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1678FDF1-A14F-461A-B0FC-5F2123AF5478}"/>
              </a:ext>
            </a:extLst>
          </p:cNvPr>
          <p:cNvSpPr>
            <a:spLocks noGrp="1"/>
          </p:cNvSpPr>
          <p:nvPr/>
        </p:nvSpPr>
        <p:spPr>
          <a:xfrm>
            <a:off x="762000" y="5267325"/>
            <a:ext cx="1714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725" b="1" i="0">
                <a:solidFill>
                  <a:srgbClr val="201F1D"/>
                </a:solidFill>
                <a:latin typeface="Noto Serif SC"/>
                <a:ea typeface="Noto Serif SC"/>
                <a:cs typeface="Noto Serif SC"/>
              </a:defRPr>
            </a:pPr>
            <a:r>
              <a:rPr sz="1725" b="1" i="0">
                <a:solidFill>
                  <a:srgbClr val="201F1D"/>
                </a:solidFill>
                <a:latin typeface="Noto Serif SC"/>
                <a:ea typeface="Noto Serif SC"/>
                <a:cs typeface="Noto Serif SC"/>
              </a:rPr>
              <a:t>数据来源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46DA0EBA-A3F8-48F5-9105-E73C7A641D5D}"/>
              </a:ext>
            </a:extLst>
          </p:cNvPr>
          <p:cNvSpPr>
            <a:spLocks noGrp="1"/>
          </p:cNvSpPr>
          <p:nvPr/>
        </p:nvSpPr>
        <p:spPr>
          <a:xfrm>
            <a:off x="2590800" y="5267325"/>
            <a:ext cx="5238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350" b="0" i="0">
                <a:solidFill>
                  <a:srgbClr val="201F1D"/>
                </a:solidFill>
                <a:latin typeface="Noto Serif SC"/>
                <a:ea typeface="Noto Serif SC"/>
                <a:cs typeface="Noto Serif SC"/>
              </a:defRPr>
            </a:pPr>
            <a:r>
              <a:rPr sz="1350" b="0" i="0">
                <a:solidFill>
                  <a:srgbClr val="201F1D"/>
                </a:solidFill>
                <a:latin typeface="Noto Serif SC"/>
                <a:ea typeface="Noto Serif SC"/>
                <a:cs typeface="Noto Serif SC"/>
              </a:rPr>
              <a:t>公开 JD · ESCO / O*NET · 脱敏简历 · 面试材料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BB6525DE-8A3C-427D-A1B5-DDD2026BAD8F}"/>
              </a:ext>
            </a:extLst>
          </p:cNvPr>
          <p:cNvSpPr>
            <a:spLocks noGrp="1"/>
          </p:cNvSpPr>
          <p:nvPr/>
        </p:nvSpPr>
        <p:spPr>
          <a:xfrm>
            <a:off x="8058150" y="5267325"/>
            <a:ext cx="32766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r">
              <a:defRPr sz="1200" b="0" i="0">
                <a:solidFill>
                  <a:srgbClr val="7D5411"/>
                </a:solidFill>
                <a:latin typeface="Noto Serif SC"/>
                <a:ea typeface="Noto Serif SC"/>
                <a:cs typeface="Noto Serif SC"/>
              </a:defRPr>
            </a:pPr>
            <a:r>
              <a:rPr sz="1200" b="0" i="0">
                <a:solidFill>
                  <a:srgbClr val="7D5411"/>
                </a:solidFill>
                <a:latin typeface="Noto Serif SC"/>
                <a:ea typeface="Noto Serif SC"/>
                <a:cs typeface="Noto Serif SC"/>
              </a:rPr>
              <a:t>清洗 · 去重 · 脱敏 · 来源记录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E059E397-2248-4A5B-8512-F309F9380AA3}"/>
              </a:ext>
            </a:extLst>
          </p:cNvPr>
          <p:cNvSpPr>
            <a:spLocks noGrp="1"/>
          </p:cNvSpPr>
          <p:nvPr/>
        </p:nvSpPr>
        <p:spPr>
          <a:xfrm>
            <a:off x="552450" y="5924550"/>
            <a:ext cx="10096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350" b="1" i="0">
                <a:solidFill>
                  <a:srgbClr val="C0492F"/>
                </a:solidFill>
                <a:latin typeface="Noto Serif SC"/>
                <a:ea typeface="Noto Serif SC"/>
                <a:cs typeface="Noto Serif SC"/>
              </a:defRPr>
            </a:pPr>
            <a:r>
              <a:rPr sz="1350" b="1" i="0">
                <a:solidFill>
                  <a:srgbClr val="C0492F"/>
                </a:solidFill>
                <a:latin typeface="Noto Serif SC"/>
                <a:ea typeface="Noto Serif SC"/>
                <a:cs typeface="Noto Serif SC"/>
              </a:rPr>
              <a:t>人在环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69141D9B-9874-4EA2-998A-6D7D2859CA1F}"/>
              </a:ext>
            </a:extLst>
          </p:cNvPr>
          <p:cNvSpPr>
            <a:spLocks noGrp="1"/>
          </p:cNvSpPr>
          <p:nvPr/>
        </p:nvSpPr>
        <p:spPr>
          <a:xfrm>
            <a:off x="1581150" y="5886450"/>
            <a:ext cx="88582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575" b="0" i="0">
                <a:solidFill>
                  <a:srgbClr val="201F1D"/>
                </a:solidFill>
                <a:latin typeface="Noto Serif SC"/>
                <a:ea typeface="Noto Serif SC"/>
                <a:cs typeface="Noto Serif SC"/>
              </a:defRPr>
            </a:pPr>
            <a:r>
              <a:rPr sz="1575" b="0" i="0">
                <a:solidFill>
                  <a:srgbClr val="201F1D"/>
                </a:solidFill>
                <a:latin typeface="Noto Serif SC"/>
                <a:ea typeface="Noto Serif SC"/>
                <a:cs typeface="Noto Serif SC"/>
              </a:rPr>
              <a:t>系统保留推荐证据和生成依据，学生审阅建议并完成最终提交</a:t>
            </a:r>
          </a:p>
        </p:txBody>
      </p:sp>
      <p:pic>
        <p:nvPicPr>
          <p:cNvPr id="31" name="图片 30">
            <a:extLst>
              <a:ext uri="{FF2B5EF4-FFF2-40B4-BE49-F238E27FC236}">
                <a16:creationId xmlns:a16="http://schemas.microsoft.com/office/drawing/2014/main" id="{3BD1015F-B00A-AF5A-0C89-A5E80CC6781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87956" y="914400"/>
            <a:ext cx="3799244" cy="55215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351271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矩形 44">
            <a:extLst>
              <a:ext uri="{FF2B5EF4-FFF2-40B4-BE49-F238E27FC236}">
                <a16:creationId xmlns:a16="http://schemas.microsoft.com/office/drawing/2014/main" id="{E3247FDF-8908-4249-8CD8-D5A8C2340068}"/>
              </a:ext>
            </a:extLst>
          </p:cNvPr>
          <p:cNvSpPr>
            <a:spLocks noGrp="1"/>
          </p:cNvSpPr>
          <p:nvPr/>
        </p:nvSpPr>
        <p:spPr>
          <a:xfrm>
            <a:off x="533400" y="266700"/>
            <a:ext cx="1714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575" b="1" i="0">
                <a:solidFill>
                  <a:srgbClr val="201F1D"/>
                </a:solidFill>
                <a:latin typeface="Georgia"/>
                <a:ea typeface="Georgia"/>
                <a:cs typeface="Georgia"/>
              </a:defRPr>
            </a:pPr>
            <a:r>
              <a:rPr sz="1575" b="1" i="0">
                <a:solidFill>
                  <a:srgbClr val="201F1D"/>
                </a:solidFill>
                <a:latin typeface="Georgia"/>
                <a:ea typeface="Georgia"/>
                <a:cs typeface="Georgia"/>
              </a:rPr>
              <a:t>CareerPilot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5599584B-2D8B-48E5-BE8E-F92A7E22DC64}"/>
              </a:ext>
            </a:extLst>
          </p:cNvPr>
          <p:cNvSpPr>
            <a:spLocks noGrp="1"/>
          </p:cNvSpPr>
          <p:nvPr/>
        </p:nvSpPr>
        <p:spPr>
          <a:xfrm>
            <a:off x="8572500" y="285750"/>
            <a:ext cx="30861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defRPr sz="975" b="0" i="0">
                <a:solidFill>
                  <a:srgbClr val="7D5411"/>
                </a:solidFill>
                <a:latin typeface="Georgia"/>
                <a:ea typeface="Georgia"/>
                <a:cs typeface="Georgia"/>
              </a:defRPr>
            </a:pPr>
            <a:r>
              <a:rPr sz="975" b="0" i="0">
                <a:solidFill>
                  <a:srgbClr val="7D5411"/>
                </a:solidFill>
                <a:latin typeface="Georgia"/>
                <a:ea typeface="Georgia"/>
                <a:cs typeface="Georgia"/>
              </a:rPr>
              <a:t>REASONING DESIGN</a:t>
            </a:r>
          </a:p>
        </p:txBody>
      </p:sp>
      <p:sp>
        <p:nvSpPr>
          <p:cNvPr id="3" name="直接连接符 2">
            <a:extLst>
              <a:ext uri="{FF2B5EF4-FFF2-40B4-BE49-F238E27FC236}">
                <a16:creationId xmlns:a16="http://schemas.microsoft.com/office/drawing/2014/main" id="{2E7DB907-ED65-4622-9FAF-37D3999B4591}"/>
              </a:ext>
            </a:extLst>
          </p:cNvPr>
          <p:cNvSpPr>
            <a:spLocks noGrp="1"/>
          </p:cNvSpPr>
          <p:nvPr/>
        </p:nvSpPr>
        <p:spPr>
          <a:xfrm>
            <a:off x="533400" y="685800"/>
            <a:ext cx="11125200" cy="0"/>
          </a:xfrm>
          <a:prstGeom prst="line">
            <a:avLst/>
          </a:prstGeom>
          <a:noFill/>
          <a:ln w="9525">
            <a:solidFill>
              <a:srgbClr val="C9C5C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4CD5E466-672F-45D4-9904-04892881BB68}"/>
              </a:ext>
            </a:extLst>
          </p:cNvPr>
          <p:cNvSpPr>
            <a:spLocks noGrp="1"/>
          </p:cNvSpPr>
          <p:nvPr/>
        </p:nvSpPr>
        <p:spPr>
          <a:xfrm>
            <a:off x="533400" y="914400"/>
            <a:ext cx="106680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3450" b="0" i="0">
                <a:solidFill>
                  <a:srgbClr val="201F1D"/>
                </a:solidFill>
                <a:latin typeface="Noto Serif SC"/>
                <a:ea typeface="Noto Serif SC"/>
                <a:cs typeface="Noto Serif SC"/>
              </a:defRPr>
            </a:pPr>
            <a:r>
              <a:rPr sz="3450" b="0" i="0">
                <a:solidFill>
                  <a:srgbClr val="201F1D"/>
                </a:solidFill>
                <a:latin typeface="Noto Serif SC"/>
                <a:ea typeface="Noto Serif SC"/>
                <a:cs typeface="Noto Serif SC"/>
              </a:rPr>
              <a:t>混合推理为何适合 IT 求职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23E0AB5F-9374-4379-862A-40859142AB03}"/>
              </a:ext>
            </a:extLst>
          </p:cNvPr>
          <p:cNvSpPr>
            <a:spLocks noGrp="1"/>
          </p:cNvSpPr>
          <p:nvPr/>
        </p:nvSpPr>
        <p:spPr>
          <a:xfrm>
            <a:off x="11182350" y="6305550"/>
            <a:ext cx="476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defRPr sz="1125" b="0" i="0">
                <a:solidFill>
                  <a:srgbClr val="B68235"/>
                </a:solidFill>
                <a:latin typeface="Georgia"/>
                <a:ea typeface="Georgia"/>
                <a:cs typeface="Georgia"/>
              </a:defRPr>
            </a:pPr>
            <a:r>
              <a:rPr sz="1125" b="0" i="0">
                <a:solidFill>
                  <a:srgbClr val="B68235"/>
                </a:solidFill>
                <a:latin typeface="Georgia"/>
                <a:ea typeface="Georgia"/>
                <a:cs typeface="Georgia"/>
              </a:rPr>
              <a:t>08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39489BEF-4191-40A9-8206-EEECF4A44ED8}"/>
              </a:ext>
            </a:extLst>
          </p:cNvPr>
          <p:cNvSpPr>
            <a:spLocks noGrp="1"/>
          </p:cNvSpPr>
          <p:nvPr/>
        </p:nvSpPr>
        <p:spPr>
          <a:xfrm>
            <a:off x="552450" y="1524000"/>
            <a:ext cx="106680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500" b="0" i="0">
                <a:solidFill>
                  <a:srgbClr val="666160"/>
                </a:solidFill>
                <a:latin typeface="Noto Serif SC"/>
                <a:ea typeface="Noto Serif SC"/>
                <a:cs typeface="Noto Serif SC"/>
              </a:defRPr>
            </a:pPr>
            <a:r>
              <a:rPr sz="1500" b="0" i="0">
                <a:solidFill>
                  <a:srgbClr val="666160"/>
                </a:solidFill>
                <a:latin typeface="Noto Serif SC"/>
                <a:ea typeface="Noto Serif SC"/>
                <a:cs typeface="Noto Serif SC"/>
              </a:rPr>
              <a:t>不同类型的问题需要不同方法，单一相似度分数无法同时处理资格、技能关系和生成可信度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CB7EC771-C923-4C7E-9554-93B11167666A}"/>
              </a:ext>
            </a:extLst>
          </p:cNvPr>
          <p:cNvSpPr>
            <a:spLocks noGrp="1"/>
          </p:cNvSpPr>
          <p:nvPr/>
        </p:nvSpPr>
        <p:spPr>
          <a:xfrm>
            <a:off x="552450" y="2152650"/>
            <a:ext cx="18478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2250" b="0" i="0">
                <a:solidFill>
                  <a:srgbClr val="2D2B2B"/>
                </a:solidFill>
                <a:latin typeface="Georgia"/>
                <a:ea typeface="Georgia"/>
                <a:cs typeface="Georgia"/>
              </a:defRPr>
            </a:pPr>
            <a:r>
              <a:rPr sz="2250" b="0" i="0">
                <a:solidFill>
                  <a:srgbClr val="2D2B2B"/>
                </a:solidFill>
                <a:latin typeface="Georgia"/>
                <a:ea typeface="Georgia"/>
                <a:cs typeface="Georgia"/>
              </a:rPr>
              <a:t>01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01C7B167-8ACA-42EB-9E11-19214C7A3F34}"/>
              </a:ext>
            </a:extLst>
          </p:cNvPr>
          <p:cNvSpPr>
            <a:spLocks noGrp="1"/>
          </p:cNvSpPr>
          <p:nvPr/>
        </p:nvSpPr>
        <p:spPr>
          <a:xfrm>
            <a:off x="552450" y="2628900"/>
            <a:ext cx="1847850" cy="1390650"/>
          </a:xfrm>
          <a:prstGeom prst="rect">
            <a:avLst/>
          </a:prstGeom>
          <a:solidFill>
            <a:srgbClr val="EAE9E9"/>
          </a:solidFill>
          <a:ln w="13335">
            <a:solidFill>
              <a:srgbClr val="2D2B2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22D8C022-20A0-4CD3-B9B2-5F6EE581C50A}"/>
              </a:ext>
            </a:extLst>
          </p:cNvPr>
          <p:cNvSpPr>
            <a:spLocks noGrp="1"/>
          </p:cNvSpPr>
          <p:nvPr/>
        </p:nvSpPr>
        <p:spPr>
          <a:xfrm>
            <a:off x="704850" y="2800350"/>
            <a:ext cx="15430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725" b="1" i="0">
                <a:solidFill>
                  <a:srgbClr val="201F1D"/>
                </a:solidFill>
                <a:latin typeface="Noto Serif SC"/>
                <a:ea typeface="Noto Serif SC"/>
                <a:cs typeface="Noto Serif SC"/>
              </a:defRPr>
            </a:pPr>
            <a:r>
              <a:rPr sz="1725" b="1" i="0">
                <a:solidFill>
                  <a:srgbClr val="201F1D"/>
                </a:solidFill>
                <a:latin typeface="Noto Serif SC"/>
                <a:ea typeface="Noto Serif SC"/>
                <a:cs typeface="Noto Serif SC"/>
              </a:rPr>
              <a:t>规则筛选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619ACF8C-626E-4093-A94E-EDC740CE8E63}"/>
              </a:ext>
            </a:extLst>
          </p:cNvPr>
          <p:cNvSpPr>
            <a:spLocks noGrp="1"/>
          </p:cNvSpPr>
          <p:nvPr/>
        </p:nvSpPr>
        <p:spPr>
          <a:xfrm>
            <a:off x="704850" y="3257550"/>
            <a:ext cx="15430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275" b="0" i="0">
                <a:solidFill>
                  <a:srgbClr val="666160"/>
                </a:solidFill>
                <a:latin typeface="Noto Serif SC"/>
                <a:ea typeface="Noto Serif SC"/>
                <a:cs typeface="Noto Serif SC"/>
              </a:defRPr>
            </a:pPr>
            <a:r>
              <a:rPr sz="1275" b="0" i="0">
                <a:solidFill>
                  <a:srgbClr val="666160"/>
                </a:solidFill>
                <a:latin typeface="Noto Serif SC"/>
                <a:ea typeface="Noto Serif SC"/>
                <a:cs typeface="Noto Serif SC"/>
              </a:rPr>
              <a:t>地点、学历、准证、截止日期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7F170A77-C51E-464E-86DA-BA360A3263AF}"/>
              </a:ext>
            </a:extLst>
          </p:cNvPr>
          <p:cNvSpPr>
            <a:spLocks noGrp="1"/>
          </p:cNvSpPr>
          <p:nvPr/>
        </p:nvSpPr>
        <p:spPr>
          <a:xfrm>
            <a:off x="2609850" y="2152650"/>
            <a:ext cx="18478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2250" b="0" i="0">
                <a:solidFill>
                  <a:srgbClr val="B68235"/>
                </a:solidFill>
                <a:latin typeface="Georgia"/>
                <a:ea typeface="Georgia"/>
                <a:cs typeface="Georgia"/>
              </a:defRPr>
            </a:pPr>
            <a:r>
              <a:rPr sz="2250" b="0" i="0">
                <a:solidFill>
                  <a:srgbClr val="B68235"/>
                </a:solidFill>
                <a:latin typeface="Georgia"/>
                <a:ea typeface="Georgia"/>
                <a:cs typeface="Georgia"/>
              </a:rPr>
              <a:t>02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E3F1AE0E-9E53-4424-95B2-46AA9398E6E6}"/>
              </a:ext>
            </a:extLst>
          </p:cNvPr>
          <p:cNvSpPr>
            <a:spLocks noGrp="1"/>
          </p:cNvSpPr>
          <p:nvPr/>
        </p:nvSpPr>
        <p:spPr>
          <a:xfrm>
            <a:off x="2609850" y="2628900"/>
            <a:ext cx="1847850" cy="1390650"/>
          </a:xfrm>
          <a:prstGeom prst="rect">
            <a:avLst/>
          </a:prstGeom>
          <a:solidFill>
            <a:srgbClr val="EAE9E9"/>
          </a:solidFill>
          <a:ln w="13335">
            <a:solidFill>
              <a:srgbClr val="B6823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45E61EDD-08D9-4581-9A2A-A6D03DB786A0}"/>
              </a:ext>
            </a:extLst>
          </p:cNvPr>
          <p:cNvSpPr>
            <a:spLocks noGrp="1"/>
          </p:cNvSpPr>
          <p:nvPr/>
        </p:nvSpPr>
        <p:spPr>
          <a:xfrm>
            <a:off x="2762250" y="2800350"/>
            <a:ext cx="15430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725" b="1" i="0">
                <a:solidFill>
                  <a:srgbClr val="201F1D"/>
                </a:solidFill>
                <a:latin typeface="Noto Serif SC"/>
                <a:ea typeface="Noto Serif SC"/>
                <a:cs typeface="Noto Serif SC"/>
              </a:defRPr>
            </a:pPr>
            <a:r>
              <a:rPr sz="1725" b="1" i="0">
                <a:solidFill>
                  <a:srgbClr val="201F1D"/>
                </a:solidFill>
                <a:latin typeface="Noto Serif SC"/>
                <a:ea typeface="Noto Serif SC"/>
                <a:cs typeface="Noto Serif SC"/>
              </a:rPr>
              <a:t>语义匹配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DE15885C-17DA-4184-91C1-BF9130302B70}"/>
              </a:ext>
            </a:extLst>
          </p:cNvPr>
          <p:cNvSpPr>
            <a:spLocks noGrp="1"/>
          </p:cNvSpPr>
          <p:nvPr/>
        </p:nvSpPr>
        <p:spPr>
          <a:xfrm>
            <a:off x="2762250" y="3257550"/>
            <a:ext cx="15430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275" b="0" i="0">
                <a:solidFill>
                  <a:srgbClr val="666160"/>
                </a:solidFill>
                <a:latin typeface="Noto Serif SC"/>
                <a:ea typeface="Noto Serif SC"/>
                <a:cs typeface="Noto Serif SC"/>
              </a:defRPr>
            </a:pPr>
            <a:r>
              <a:rPr sz="1275" b="0" i="0">
                <a:solidFill>
                  <a:srgbClr val="666160"/>
                </a:solidFill>
                <a:latin typeface="Noto Serif SC"/>
                <a:ea typeface="Noto Serif SC"/>
                <a:cs typeface="Noto Serif SC"/>
              </a:rPr>
              <a:t>项目经历与岗位职责的相关性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FC1E4728-6705-4F58-80E3-4DDF698D64E5}"/>
              </a:ext>
            </a:extLst>
          </p:cNvPr>
          <p:cNvSpPr>
            <a:spLocks noGrp="1"/>
          </p:cNvSpPr>
          <p:nvPr/>
        </p:nvSpPr>
        <p:spPr>
          <a:xfrm>
            <a:off x="4667250" y="2152650"/>
            <a:ext cx="18478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2250" b="0" i="0">
                <a:solidFill>
                  <a:srgbClr val="C0492F"/>
                </a:solidFill>
                <a:latin typeface="Georgia"/>
                <a:ea typeface="Georgia"/>
                <a:cs typeface="Georgia"/>
              </a:defRPr>
            </a:pPr>
            <a:r>
              <a:rPr sz="2250" b="0" i="0">
                <a:solidFill>
                  <a:srgbClr val="C0492F"/>
                </a:solidFill>
                <a:latin typeface="Georgia"/>
                <a:ea typeface="Georgia"/>
                <a:cs typeface="Georgia"/>
              </a:rPr>
              <a:t>03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3C3F8B41-5713-4351-B75E-5FE02EF44C86}"/>
              </a:ext>
            </a:extLst>
          </p:cNvPr>
          <p:cNvSpPr>
            <a:spLocks noGrp="1"/>
          </p:cNvSpPr>
          <p:nvPr/>
        </p:nvSpPr>
        <p:spPr>
          <a:xfrm>
            <a:off x="4667250" y="2628900"/>
            <a:ext cx="1847850" cy="1390650"/>
          </a:xfrm>
          <a:prstGeom prst="rect">
            <a:avLst/>
          </a:prstGeom>
          <a:solidFill>
            <a:srgbClr val="EAE9E9"/>
          </a:solidFill>
          <a:ln w="13335">
            <a:solidFill>
              <a:srgbClr val="C0492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8A634C68-84E7-4D38-B03E-6194CDF31F34}"/>
              </a:ext>
            </a:extLst>
          </p:cNvPr>
          <p:cNvSpPr>
            <a:spLocks noGrp="1"/>
          </p:cNvSpPr>
          <p:nvPr/>
        </p:nvSpPr>
        <p:spPr>
          <a:xfrm>
            <a:off x="4819650" y="2800350"/>
            <a:ext cx="15430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725" b="1" i="0">
                <a:solidFill>
                  <a:srgbClr val="201F1D"/>
                </a:solidFill>
                <a:latin typeface="Noto Serif SC"/>
                <a:ea typeface="Noto Serif SC"/>
                <a:cs typeface="Noto Serif SC"/>
              </a:defRPr>
            </a:pPr>
            <a:r>
              <a:rPr sz="1725" b="1" i="0">
                <a:solidFill>
                  <a:srgbClr val="201F1D"/>
                </a:solidFill>
                <a:latin typeface="Noto Serif SC"/>
                <a:ea typeface="Noto Serif SC"/>
                <a:cs typeface="Noto Serif SC"/>
              </a:rPr>
              <a:t>技能图谱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382D5554-1A41-4D4D-94C7-6055BB795B09}"/>
              </a:ext>
            </a:extLst>
          </p:cNvPr>
          <p:cNvSpPr>
            <a:spLocks noGrp="1"/>
          </p:cNvSpPr>
          <p:nvPr/>
        </p:nvSpPr>
        <p:spPr>
          <a:xfrm>
            <a:off x="4819650" y="3257550"/>
            <a:ext cx="15430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275" b="0" i="0">
                <a:solidFill>
                  <a:srgbClr val="666160"/>
                </a:solidFill>
                <a:latin typeface="Noto Serif SC"/>
                <a:ea typeface="Noto Serif SC"/>
                <a:cs typeface="Noto Serif SC"/>
              </a:defRPr>
            </a:pPr>
            <a:r>
              <a:rPr sz="1275" b="0" i="0">
                <a:solidFill>
                  <a:srgbClr val="666160"/>
                </a:solidFill>
                <a:latin typeface="Noto Serif SC"/>
                <a:ea typeface="Noto Serif SC"/>
                <a:cs typeface="Noto Serif SC"/>
              </a:rPr>
              <a:t>同义技能、上下位关系与可迁移差距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DD28D09C-9929-4095-A3EC-5223A10A0515}"/>
              </a:ext>
            </a:extLst>
          </p:cNvPr>
          <p:cNvSpPr>
            <a:spLocks noGrp="1"/>
          </p:cNvSpPr>
          <p:nvPr/>
        </p:nvSpPr>
        <p:spPr>
          <a:xfrm>
            <a:off x="6724650" y="2152650"/>
            <a:ext cx="18478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2250" b="0" i="0">
                <a:solidFill>
                  <a:srgbClr val="47765C"/>
                </a:solidFill>
                <a:latin typeface="Georgia"/>
                <a:ea typeface="Georgia"/>
                <a:cs typeface="Georgia"/>
              </a:defRPr>
            </a:pPr>
            <a:r>
              <a:rPr sz="2250" b="0" i="0">
                <a:solidFill>
                  <a:srgbClr val="47765C"/>
                </a:solidFill>
                <a:latin typeface="Georgia"/>
                <a:ea typeface="Georgia"/>
                <a:cs typeface="Georgia"/>
              </a:rPr>
              <a:t>04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F96BDAEA-6882-4B17-A12E-9B0C22B640E9}"/>
              </a:ext>
            </a:extLst>
          </p:cNvPr>
          <p:cNvSpPr>
            <a:spLocks noGrp="1"/>
          </p:cNvSpPr>
          <p:nvPr/>
        </p:nvSpPr>
        <p:spPr>
          <a:xfrm>
            <a:off x="6724650" y="2628900"/>
            <a:ext cx="1847850" cy="1390650"/>
          </a:xfrm>
          <a:prstGeom prst="rect">
            <a:avLst/>
          </a:prstGeom>
          <a:solidFill>
            <a:srgbClr val="FFF3E4"/>
          </a:solidFill>
          <a:ln w="13335">
            <a:solidFill>
              <a:srgbClr val="47765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DA2DB755-1A92-4325-A0DB-C4AF6AE22113}"/>
              </a:ext>
            </a:extLst>
          </p:cNvPr>
          <p:cNvSpPr>
            <a:spLocks noGrp="1"/>
          </p:cNvSpPr>
          <p:nvPr/>
        </p:nvSpPr>
        <p:spPr>
          <a:xfrm>
            <a:off x="6877050" y="2800350"/>
            <a:ext cx="15430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725" b="1" i="0">
                <a:solidFill>
                  <a:srgbClr val="201F1D"/>
                </a:solidFill>
                <a:latin typeface="Noto Serif SC"/>
                <a:ea typeface="Noto Serif SC"/>
                <a:cs typeface="Noto Serif SC"/>
              </a:defRPr>
            </a:pPr>
            <a:r>
              <a:rPr sz="1725" b="1" i="0">
                <a:solidFill>
                  <a:srgbClr val="201F1D"/>
                </a:solidFill>
                <a:latin typeface="Noto Serif SC"/>
                <a:ea typeface="Noto Serif SC"/>
                <a:cs typeface="Noto Serif SC"/>
              </a:rPr>
              <a:t>受约束生成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C7AE70AB-F849-472D-A4DD-F83EC96FBB00}"/>
              </a:ext>
            </a:extLst>
          </p:cNvPr>
          <p:cNvSpPr>
            <a:spLocks noGrp="1"/>
          </p:cNvSpPr>
          <p:nvPr/>
        </p:nvSpPr>
        <p:spPr>
          <a:xfrm>
            <a:off x="6877050" y="3257550"/>
            <a:ext cx="15430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275" b="0" i="0">
                <a:solidFill>
                  <a:srgbClr val="666160"/>
                </a:solidFill>
                <a:latin typeface="Noto Serif SC"/>
                <a:ea typeface="Noto Serif SC"/>
                <a:cs typeface="Noto Serif SC"/>
              </a:defRPr>
            </a:pPr>
            <a:r>
              <a:rPr sz="1275" b="0" i="0">
                <a:solidFill>
                  <a:srgbClr val="666160"/>
                </a:solidFill>
                <a:latin typeface="Noto Serif SC"/>
                <a:ea typeface="Noto Serif SC"/>
                <a:cs typeface="Noto Serif SC"/>
              </a:rPr>
              <a:t>推荐解释、简历改写与面试题库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D0723A82-D876-4EDD-A5AF-CFDF70FFDA9E}"/>
              </a:ext>
            </a:extLst>
          </p:cNvPr>
          <p:cNvSpPr>
            <a:spLocks noGrp="1"/>
          </p:cNvSpPr>
          <p:nvPr/>
        </p:nvSpPr>
        <p:spPr>
          <a:xfrm>
            <a:off x="8782050" y="2152650"/>
            <a:ext cx="28765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2250" b="0" i="0">
                <a:solidFill>
                  <a:srgbClr val="7D5411"/>
                </a:solidFill>
                <a:latin typeface="Georgia"/>
                <a:ea typeface="Georgia"/>
                <a:cs typeface="Georgia"/>
              </a:defRPr>
            </a:pPr>
            <a:r>
              <a:rPr sz="2250" b="0" i="0">
                <a:solidFill>
                  <a:srgbClr val="7D5411"/>
                </a:solidFill>
                <a:latin typeface="Georgia"/>
                <a:ea typeface="Georgia"/>
                <a:cs typeface="Georgia"/>
              </a:rPr>
              <a:t>05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4B837228-E600-46FE-AABD-4E7FC0C35906}"/>
              </a:ext>
            </a:extLst>
          </p:cNvPr>
          <p:cNvSpPr>
            <a:spLocks noGrp="1"/>
          </p:cNvSpPr>
          <p:nvPr/>
        </p:nvSpPr>
        <p:spPr>
          <a:xfrm>
            <a:off x="8782050" y="2628900"/>
            <a:ext cx="2876550" cy="1390650"/>
          </a:xfrm>
          <a:prstGeom prst="rect">
            <a:avLst/>
          </a:prstGeom>
          <a:solidFill>
            <a:srgbClr val="EAE9E9"/>
          </a:solidFill>
          <a:ln w="13335">
            <a:solidFill>
              <a:srgbClr val="7D541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DADDB598-42CD-4453-9977-A8AA5ADB68EC}"/>
              </a:ext>
            </a:extLst>
          </p:cNvPr>
          <p:cNvSpPr>
            <a:spLocks noGrp="1"/>
          </p:cNvSpPr>
          <p:nvPr/>
        </p:nvSpPr>
        <p:spPr>
          <a:xfrm>
            <a:off x="8934450" y="2800350"/>
            <a:ext cx="2571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725" b="1" i="0">
                <a:solidFill>
                  <a:srgbClr val="201F1D"/>
                </a:solidFill>
                <a:latin typeface="Noto Serif SC"/>
                <a:ea typeface="Noto Serif SC"/>
                <a:cs typeface="Noto Serif SC"/>
              </a:defRPr>
            </a:pPr>
            <a:r>
              <a:rPr sz="1725" b="1" i="0">
                <a:solidFill>
                  <a:srgbClr val="201F1D"/>
                </a:solidFill>
                <a:latin typeface="Noto Serif SC"/>
                <a:ea typeface="Noto Serif SC"/>
                <a:cs typeface="Noto Serif SC"/>
              </a:rPr>
              <a:t>计划规则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4FD8C0D2-56AB-4BC6-8394-AB2554D6655E}"/>
              </a:ext>
            </a:extLst>
          </p:cNvPr>
          <p:cNvSpPr>
            <a:spLocks noGrp="1"/>
          </p:cNvSpPr>
          <p:nvPr/>
        </p:nvSpPr>
        <p:spPr>
          <a:xfrm>
            <a:off x="8934450" y="3257550"/>
            <a:ext cx="25717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275" b="0" i="0">
                <a:solidFill>
                  <a:srgbClr val="666160"/>
                </a:solidFill>
                <a:latin typeface="Noto Serif SC"/>
                <a:ea typeface="Noto Serif SC"/>
                <a:cs typeface="Noto Serif SC"/>
              </a:defRPr>
            </a:pPr>
            <a:r>
              <a:rPr sz="1275" b="0" i="0">
                <a:solidFill>
                  <a:srgbClr val="666160"/>
                </a:solidFill>
                <a:latin typeface="Noto Serif SC"/>
                <a:ea typeface="Noto Serif SC"/>
                <a:cs typeface="Noto Serif SC"/>
              </a:rPr>
              <a:t>岗位状态、截止日期和时间预算</a:t>
            </a:r>
          </a:p>
        </p:txBody>
      </p:sp>
      <p:cxnSp>
        <p:nvCxnSpPr>
          <p:cNvPr id="71" name="直接箭头连接符 70"/>
          <p:cNvCxnSpPr>
            <a:stCxn id="8" idx="3"/>
            <a:endCxn id="12" idx="1"/>
          </p:cNvCxnSpPr>
          <p:nvPr/>
        </p:nvCxnSpPr>
        <p:spPr>
          <a:xfrm>
            <a:off x="2400300" y="3324225"/>
            <a:ext cx="209550" cy="0"/>
          </a:xfrm>
          <a:prstGeom prst="straightConnector1">
            <a:avLst/>
          </a:prstGeom>
          <a:ln w="14288">
            <a:solidFill>
              <a:srgbClr val="C9C5C3"/>
            </a:solidFill>
            <a:prstDash val="solid"/>
            <a:tailEnd type="triangle" w="sm" len="sm"/>
          </a:ln>
        </p:spPr>
      </p:cxnSp>
      <p:cxnSp>
        <p:nvCxnSpPr>
          <p:cNvPr id="72" name="直接箭头连接符 71"/>
          <p:cNvCxnSpPr>
            <a:stCxn id="12" idx="3"/>
            <a:endCxn id="16" idx="1"/>
          </p:cNvCxnSpPr>
          <p:nvPr/>
        </p:nvCxnSpPr>
        <p:spPr>
          <a:xfrm>
            <a:off x="4457700" y="3324225"/>
            <a:ext cx="209550" cy="0"/>
          </a:xfrm>
          <a:prstGeom prst="straightConnector1">
            <a:avLst/>
          </a:prstGeom>
          <a:ln w="14288">
            <a:solidFill>
              <a:srgbClr val="C9C5C3"/>
            </a:solidFill>
            <a:prstDash val="solid"/>
            <a:tailEnd type="triangle" w="sm" len="sm"/>
          </a:ln>
        </p:spPr>
      </p:cxnSp>
      <p:cxnSp>
        <p:nvCxnSpPr>
          <p:cNvPr id="73" name="直接箭头连接符 72"/>
          <p:cNvCxnSpPr>
            <a:stCxn id="16" idx="3"/>
            <a:endCxn id="20" idx="1"/>
          </p:cNvCxnSpPr>
          <p:nvPr/>
        </p:nvCxnSpPr>
        <p:spPr>
          <a:xfrm>
            <a:off x="6515100" y="3324225"/>
            <a:ext cx="209550" cy="0"/>
          </a:xfrm>
          <a:prstGeom prst="straightConnector1">
            <a:avLst/>
          </a:prstGeom>
          <a:ln w="14288">
            <a:solidFill>
              <a:srgbClr val="C9C5C3"/>
            </a:solidFill>
            <a:prstDash val="solid"/>
            <a:tailEnd type="triangle" w="sm" len="sm"/>
          </a:ln>
        </p:spPr>
      </p:cxnSp>
      <p:cxnSp>
        <p:nvCxnSpPr>
          <p:cNvPr id="74" name="直接箭头连接符 73"/>
          <p:cNvCxnSpPr>
            <a:stCxn id="20" idx="3"/>
            <a:endCxn id="24" idx="1"/>
          </p:cNvCxnSpPr>
          <p:nvPr/>
        </p:nvCxnSpPr>
        <p:spPr>
          <a:xfrm>
            <a:off x="8572500" y="3324225"/>
            <a:ext cx="209550" cy="0"/>
          </a:xfrm>
          <a:prstGeom prst="straightConnector1">
            <a:avLst/>
          </a:prstGeom>
          <a:ln w="14288">
            <a:solidFill>
              <a:srgbClr val="C9C5C3"/>
            </a:solidFill>
            <a:prstDash val="solid"/>
            <a:tailEnd type="triangle" w="sm" len="sm"/>
          </a:ln>
        </p:spPr>
      </p:cxnSp>
      <p:sp>
        <p:nvSpPr>
          <p:cNvPr id="31" name="矩形 30">
            <a:extLst>
              <a:ext uri="{FF2B5EF4-FFF2-40B4-BE49-F238E27FC236}">
                <a16:creationId xmlns:a16="http://schemas.microsoft.com/office/drawing/2014/main" id="{590AD37C-C066-463C-ADB5-0F69B27FA04D}"/>
              </a:ext>
            </a:extLst>
          </p:cNvPr>
          <p:cNvSpPr>
            <a:spLocks noGrp="1"/>
          </p:cNvSpPr>
          <p:nvPr/>
        </p:nvSpPr>
        <p:spPr>
          <a:xfrm>
            <a:off x="552450" y="4552950"/>
            <a:ext cx="11106150" cy="1066800"/>
          </a:xfrm>
          <a:prstGeom prst="rect">
            <a:avLst/>
          </a:prstGeom>
          <a:solidFill>
            <a:srgbClr val="2D2B2B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E7856B5A-2429-4DAD-BD17-22BF4F796CCD}"/>
              </a:ext>
            </a:extLst>
          </p:cNvPr>
          <p:cNvSpPr>
            <a:spLocks noGrp="1"/>
          </p:cNvSpPr>
          <p:nvPr/>
        </p:nvSpPr>
        <p:spPr>
          <a:xfrm>
            <a:off x="781050" y="4762500"/>
            <a:ext cx="1714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650" b="1" i="0">
                <a:solidFill>
                  <a:srgbClr val="FFF3E4"/>
                </a:solidFill>
                <a:latin typeface="Noto Serif SC"/>
                <a:ea typeface="Noto Serif SC"/>
                <a:cs typeface="Noto Serif SC"/>
              </a:defRPr>
            </a:pPr>
            <a:r>
              <a:rPr sz="1650" b="1" i="0">
                <a:solidFill>
                  <a:srgbClr val="FFF3E4"/>
                </a:solidFill>
                <a:latin typeface="Noto Serif SC"/>
                <a:ea typeface="Noto Serif SC"/>
                <a:cs typeface="Noto Serif SC"/>
              </a:rPr>
              <a:t>可解释输出</a:t>
            </a:r>
          </a:p>
        </p:txBody>
      </p:sp>
      <p:sp>
        <p:nvSpPr>
          <p:cNvPr id="33" name="椭圆 32">
            <a:extLst>
              <a:ext uri="{FF2B5EF4-FFF2-40B4-BE49-F238E27FC236}">
                <a16:creationId xmlns:a16="http://schemas.microsoft.com/office/drawing/2014/main" id="{31514C97-CA8B-4CC6-81E2-88236B9F3C3A}"/>
              </a:ext>
            </a:extLst>
          </p:cNvPr>
          <p:cNvSpPr>
            <a:spLocks noGrp="1"/>
          </p:cNvSpPr>
          <p:nvPr/>
        </p:nvSpPr>
        <p:spPr>
          <a:xfrm>
            <a:off x="2590800" y="4810125"/>
            <a:ext cx="114300" cy="114300"/>
          </a:xfrm>
          <a:prstGeom prst="ellipse">
            <a:avLst/>
          </a:prstGeom>
          <a:solidFill>
            <a:srgbClr val="B68235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6D20656F-52AA-4412-B75A-0542982C3268}"/>
              </a:ext>
            </a:extLst>
          </p:cNvPr>
          <p:cNvSpPr>
            <a:spLocks noGrp="1"/>
          </p:cNvSpPr>
          <p:nvPr/>
        </p:nvSpPr>
        <p:spPr>
          <a:xfrm>
            <a:off x="2800350" y="4733925"/>
            <a:ext cx="14668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350" b="0" i="0">
                <a:solidFill>
                  <a:srgbClr val="FFFFFF"/>
                </a:solidFill>
                <a:latin typeface="Noto Serif SC"/>
                <a:ea typeface="Noto Serif SC"/>
                <a:cs typeface="Noto Serif SC"/>
              </a:defRPr>
            </a:pPr>
            <a:r>
              <a:rPr sz="1350" b="0" i="0">
                <a:solidFill>
                  <a:srgbClr val="FFFFFF"/>
                </a:solidFill>
                <a:latin typeface="Noto Serif SC"/>
                <a:ea typeface="Noto Serif SC"/>
                <a:cs typeface="Noto Serif SC"/>
              </a:rPr>
              <a:t>符合资格</a:t>
            </a:r>
          </a:p>
        </p:txBody>
      </p:sp>
      <p:sp>
        <p:nvSpPr>
          <p:cNvPr id="35" name="椭圆 34">
            <a:extLst>
              <a:ext uri="{FF2B5EF4-FFF2-40B4-BE49-F238E27FC236}">
                <a16:creationId xmlns:a16="http://schemas.microsoft.com/office/drawing/2014/main" id="{20BED97E-E78D-45F2-8B6D-5AFD54F1D2AD}"/>
              </a:ext>
            </a:extLst>
          </p:cNvPr>
          <p:cNvSpPr>
            <a:spLocks noGrp="1"/>
          </p:cNvSpPr>
          <p:nvPr/>
        </p:nvSpPr>
        <p:spPr>
          <a:xfrm>
            <a:off x="4305300" y="4810125"/>
            <a:ext cx="114300" cy="114300"/>
          </a:xfrm>
          <a:prstGeom prst="ellipse">
            <a:avLst/>
          </a:prstGeom>
          <a:solidFill>
            <a:srgbClr val="B68235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714CC2DC-E40A-4A8E-A862-808EC5D7D877}"/>
              </a:ext>
            </a:extLst>
          </p:cNvPr>
          <p:cNvSpPr>
            <a:spLocks noGrp="1"/>
          </p:cNvSpPr>
          <p:nvPr/>
        </p:nvSpPr>
        <p:spPr>
          <a:xfrm>
            <a:off x="4514850" y="4733925"/>
            <a:ext cx="14668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350" b="0" i="0">
                <a:solidFill>
                  <a:srgbClr val="FFFFFF"/>
                </a:solidFill>
                <a:latin typeface="Noto Serif SC"/>
                <a:ea typeface="Noto Serif SC"/>
                <a:cs typeface="Noto Serif SC"/>
              </a:defRPr>
            </a:pPr>
            <a:r>
              <a:rPr sz="1350" b="0" i="0">
                <a:solidFill>
                  <a:srgbClr val="FFFFFF"/>
                </a:solidFill>
                <a:latin typeface="Noto Serif SC"/>
                <a:ea typeface="Noto Serif SC"/>
                <a:cs typeface="Noto Serif SC"/>
              </a:rPr>
              <a:t>匹配证据</a:t>
            </a:r>
          </a:p>
        </p:txBody>
      </p:sp>
      <p:sp>
        <p:nvSpPr>
          <p:cNvPr id="37" name="椭圆 36">
            <a:extLst>
              <a:ext uri="{FF2B5EF4-FFF2-40B4-BE49-F238E27FC236}">
                <a16:creationId xmlns:a16="http://schemas.microsoft.com/office/drawing/2014/main" id="{FFBAA446-1EE9-4555-AE81-D3318865C664}"/>
              </a:ext>
            </a:extLst>
          </p:cNvPr>
          <p:cNvSpPr>
            <a:spLocks noGrp="1"/>
          </p:cNvSpPr>
          <p:nvPr/>
        </p:nvSpPr>
        <p:spPr>
          <a:xfrm>
            <a:off x="6019800" y="4810125"/>
            <a:ext cx="114300" cy="114300"/>
          </a:xfrm>
          <a:prstGeom prst="ellipse">
            <a:avLst/>
          </a:prstGeom>
          <a:solidFill>
            <a:srgbClr val="B68235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315E7BB7-EF5F-4A9D-8DB4-1D1608ECCF99}"/>
              </a:ext>
            </a:extLst>
          </p:cNvPr>
          <p:cNvSpPr>
            <a:spLocks noGrp="1"/>
          </p:cNvSpPr>
          <p:nvPr/>
        </p:nvSpPr>
        <p:spPr>
          <a:xfrm>
            <a:off x="6229350" y="4733925"/>
            <a:ext cx="14668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350" b="0" i="0">
                <a:solidFill>
                  <a:srgbClr val="FFFFFF"/>
                </a:solidFill>
                <a:latin typeface="Noto Serif SC"/>
                <a:ea typeface="Noto Serif SC"/>
                <a:cs typeface="Noto Serif SC"/>
              </a:defRPr>
            </a:pPr>
            <a:r>
              <a:rPr sz="1350" b="0" i="0">
                <a:solidFill>
                  <a:srgbClr val="FFFFFF"/>
                </a:solidFill>
                <a:latin typeface="Noto Serif SC"/>
                <a:ea typeface="Noto Serif SC"/>
                <a:cs typeface="Noto Serif SC"/>
              </a:rPr>
              <a:t>技能差距</a:t>
            </a:r>
          </a:p>
        </p:txBody>
      </p:sp>
      <p:sp>
        <p:nvSpPr>
          <p:cNvPr id="39" name="椭圆 38">
            <a:extLst>
              <a:ext uri="{FF2B5EF4-FFF2-40B4-BE49-F238E27FC236}">
                <a16:creationId xmlns:a16="http://schemas.microsoft.com/office/drawing/2014/main" id="{9A0B21B6-3BC3-4AC3-8F83-52CFCFC692EE}"/>
              </a:ext>
            </a:extLst>
          </p:cNvPr>
          <p:cNvSpPr>
            <a:spLocks noGrp="1"/>
          </p:cNvSpPr>
          <p:nvPr/>
        </p:nvSpPr>
        <p:spPr>
          <a:xfrm>
            <a:off x="7734300" y="4810125"/>
            <a:ext cx="114300" cy="114300"/>
          </a:xfrm>
          <a:prstGeom prst="ellipse">
            <a:avLst/>
          </a:prstGeom>
          <a:solidFill>
            <a:srgbClr val="C0492F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E69E936A-1BE2-4EFB-847E-431ED7DF94BF}"/>
              </a:ext>
            </a:extLst>
          </p:cNvPr>
          <p:cNvSpPr>
            <a:spLocks noGrp="1"/>
          </p:cNvSpPr>
          <p:nvPr/>
        </p:nvSpPr>
        <p:spPr>
          <a:xfrm>
            <a:off x="7943850" y="4733925"/>
            <a:ext cx="14668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350" b="0" i="0">
                <a:solidFill>
                  <a:srgbClr val="FFFFFF"/>
                </a:solidFill>
                <a:latin typeface="Noto Serif SC"/>
                <a:ea typeface="Noto Serif SC"/>
                <a:cs typeface="Noto Serif SC"/>
              </a:defRPr>
            </a:pPr>
            <a:r>
              <a:rPr sz="1350" b="0" i="0">
                <a:solidFill>
                  <a:srgbClr val="FFFFFF"/>
                </a:solidFill>
                <a:latin typeface="Noto Serif SC"/>
                <a:ea typeface="Noto Serif SC"/>
                <a:cs typeface="Noto Serif SC"/>
              </a:rPr>
              <a:t>事实一致的草稿</a:t>
            </a:r>
          </a:p>
        </p:txBody>
      </p:sp>
      <p:sp>
        <p:nvSpPr>
          <p:cNvPr id="41" name="椭圆 40">
            <a:extLst>
              <a:ext uri="{FF2B5EF4-FFF2-40B4-BE49-F238E27FC236}">
                <a16:creationId xmlns:a16="http://schemas.microsoft.com/office/drawing/2014/main" id="{7DA9B953-0ACA-45A3-9988-077AE6B5A46A}"/>
              </a:ext>
            </a:extLst>
          </p:cNvPr>
          <p:cNvSpPr>
            <a:spLocks noGrp="1"/>
          </p:cNvSpPr>
          <p:nvPr/>
        </p:nvSpPr>
        <p:spPr>
          <a:xfrm>
            <a:off x="9448800" y="4810125"/>
            <a:ext cx="114300" cy="114300"/>
          </a:xfrm>
          <a:prstGeom prst="ellipse">
            <a:avLst/>
          </a:prstGeom>
          <a:solidFill>
            <a:srgbClr val="B68235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C7C9E366-6DC5-4FAB-B04D-C49E40B03C3C}"/>
              </a:ext>
            </a:extLst>
          </p:cNvPr>
          <p:cNvSpPr>
            <a:spLocks noGrp="1"/>
          </p:cNvSpPr>
          <p:nvPr/>
        </p:nvSpPr>
        <p:spPr>
          <a:xfrm>
            <a:off x="9658350" y="4733925"/>
            <a:ext cx="14668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350" b="0" i="0">
                <a:solidFill>
                  <a:srgbClr val="FFFFFF"/>
                </a:solidFill>
                <a:latin typeface="Noto Serif SC"/>
                <a:ea typeface="Noto Serif SC"/>
                <a:cs typeface="Noto Serif SC"/>
              </a:defRPr>
            </a:pPr>
            <a:r>
              <a:rPr sz="1350" b="0" i="0">
                <a:solidFill>
                  <a:srgbClr val="FFFFFF"/>
                </a:solidFill>
                <a:latin typeface="Noto Serif SC"/>
                <a:ea typeface="Noto Serif SC"/>
                <a:cs typeface="Noto Serif SC"/>
              </a:rPr>
              <a:t>下一步行动</a:t>
            </a:r>
          </a:p>
        </p:txBody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1567F5A8-8516-4E56-86DB-83A2F4EB44D0}"/>
              </a:ext>
            </a:extLst>
          </p:cNvPr>
          <p:cNvSpPr>
            <a:spLocks noGrp="1"/>
          </p:cNvSpPr>
          <p:nvPr/>
        </p:nvSpPr>
        <p:spPr>
          <a:xfrm>
            <a:off x="552450" y="5943600"/>
            <a:ext cx="12001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350" b="1" i="0">
                <a:solidFill>
                  <a:srgbClr val="7D5411"/>
                </a:solidFill>
                <a:latin typeface="Noto Serif SC"/>
                <a:ea typeface="Noto Serif SC"/>
                <a:cs typeface="Noto Serif SC"/>
              </a:defRPr>
            </a:pPr>
            <a:r>
              <a:rPr sz="1350" b="1" i="0">
                <a:solidFill>
                  <a:srgbClr val="7D5411"/>
                </a:solidFill>
                <a:latin typeface="Noto Serif SC"/>
                <a:ea typeface="Noto Serif SC"/>
                <a:cs typeface="Noto Serif SC"/>
              </a:rPr>
              <a:t>设计原因</a:t>
            </a:r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2B575F63-FEA1-41F0-B16E-96AC7502B115}"/>
              </a:ext>
            </a:extLst>
          </p:cNvPr>
          <p:cNvSpPr>
            <a:spLocks noGrp="1"/>
          </p:cNvSpPr>
          <p:nvPr/>
        </p:nvSpPr>
        <p:spPr>
          <a:xfrm>
            <a:off x="1790700" y="5895975"/>
            <a:ext cx="9525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575" b="0" i="0">
                <a:solidFill>
                  <a:srgbClr val="201F1D"/>
                </a:solidFill>
                <a:latin typeface="Noto Serif SC"/>
                <a:ea typeface="Noto Serif SC"/>
                <a:cs typeface="Noto Serif SC"/>
              </a:defRPr>
            </a:pPr>
            <a:r>
              <a:rPr sz="1575" b="0" i="0">
                <a:solidFill>
                  <a:srgbClr val="201F1D"/>
                </a:solidFill>
                <a:latin typeface="Noto Serif SC"/>
                <a:ea typeface="Noto Serif SC"/>
                <a:cs typeface="Noto Serif SC"/>
              </a:rPr>
              <a:t>硬约束不能被相似度抵消；生成内容必须能够回溯到简历和 JD 中的事实。</a:t>
            </a:r>
          </a:p>
        </p:txBody>
      </p:sp>
    </p:spTree>
    <p:extLst>
      <p:ext uri="{BB962C8B-B14F-4D97-AF65-F5344CB8AC3E}">
        <p14:creationId xmlns:p14="http://schemas.microsoft.com/office/powerpoint/2010/main" val="69941297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矩形 44">
            <a:extLst>
              <a:ext uri="{FF2B5EF4-FFF2-40B4-BE49-F238E27FC236}">
                <a16:creationId xmlns:a16="http://schemas.microsoft.com/office/drawing/2014/main" id="{2B088CF8-D51F-40CB-9FE5-E9AE8192359B}"/>
              </a:ext>
            </a:extLst>
          </p:cNvPr>
          <p:cNvSpPr>
            <a:spLocks noGrp="1"/>
          </p:cNvSpPr>
          <p:nvPr/>
        </p:nvSpPr>
        <p:spPr>
          <a:xfrm>
            <a:off x="533400" y="266700"/>
            <a:ext cx="1714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575" b="1" i="0">
                <a:solidFill>
                  <a:srgbClr val="201F1D"/>
                </a:solidFill>
                <a:latin typeface="Georgia"/>
                <a:ea typeface="Georgia"/>
                <a:cs typeface="Georgia"/>
              </a:defRPr>
            </a:pPr>
            <a:r>
              <a:rPr sz="1575" b="1" i="0">
                <a:solidFill>
                  <a:srgbClr val="201F1D"/>
                </a:solidFill>
                <a:latin typeface="Georgia"/>
                <a:ea typeface="Georgia"/>
                <a:cs typeface="Georgia"/>
              </a:rPr>
              <a:t>CareerPilot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C6B16011-D145-42BF-BA42-696727F676D0}"/>
              </a:ext>
            </a:extLst>
          </p:cNvPr>
          <p:cNvSpPr>
            <a:spLocks noGrp="1"/>
          </p:cNvSpPr>
          <p:nvPr/>
        </p:nvSpPr>
        <p:spPr>
          <a:xfrm>
            <a:off x="8572500" y="285750"/>
            <a:ext cx="30861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defRPr sz="975" b="0" i="0">
                <a:solidFill>
                  <a:srgbClr val="7D5411"/>
                </a:solidFill>
                <a:latin typeface="Georgia"/>
                <a:ea typeface="Georgia"/>
                <a:cs typeface="Georgia"/>
              </a:defRPr>
            </a:pPr>
            <a:r>
              <a:rPr sz="975" b="0" i="0">
                <a:solidFill>
                  <a:srgbClr val="7D5411"/>
                </a:solidFill>
                <a:latin typeface="Georgia"/>
                <a:ea typeface="Georgia"/>
                <a:cs typeface="Georgia"/>
              </a:rPr>
              <a:t>DATA &amp; EVALUATION</a:t>
            </a:r>
          </a:p>
        </p:txBody>
      </p:sp>
      <p:sp>
        <p:nvSpPr>
          <p:cNvPr id="3" name="直接连接符 2">
            <a:extLst>
              <a:ext uri="{FF2B5EF4-FFF2-40B4-BE49-F238E27FC236}">
                <a16:creationId xmlns:a16="http://schemas.microsoft.com/office/drawing/2014/main" id="{6CFB1DBC-EF08-434E-8D4C-A416D4303258}"/>
              </a:ext>
            </a:extLst>
          </p:cNvPr>
          <p:cNvSpPr>
            <a:spLocks noGrp="1"/>
          </p:cNvSpPr>
          <p:nvPr/>
        </p:nvSpPr>
        <p:spPr>
          <a:xfrm>
            <a:off x="533400" y="685800"/>
            <a:ext cx="11125200" cy="0"/>
          </a:xfrm>
          <a:prstGeom prst="line">
            <a:avLst/>
          </a:prstGeom>
          <a:noFill/>
          <a:ln w="9525">
            <a:solidFill>
              <a:srgbClr val="C9C5C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ECD90BE2-FD4F-4256-AE87-2130A407D469}"/>
              </a:ext>
            </a:extLst>
          </p:cNvPr>
          <p:cNvSpPr>
            <a:spLocks noGrp="1"/>
          </p:cNvSpPr>
          <p:nvPr/>
        </p:nvSpPr>
        <p:spPr>
          <a:xfrm>
            <a:off x="533400" y="914400"/>
            <a:ext cx="106680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3450" b="0" i="0">
                <a:solidFill>
                  <a:srgbClr val="201F1D"/>
                </a:solidFill>
                <a:latin typeface="Noto Serif SC"/>
                <a:ea typeface="Noto Serif SC"/>
                <a:cs typeface="Noto Serif SC"/>
              </a:defRPr>
            </a:pPr>
            <a:r>
              <a:rPr sz="3450" b="0" i="0">
                <a:solidFill>
                  <a:srgbClr val="201F1D"/>
                </a:solidFill>
                <a:latin typeface="Noto Serif SC"/>
                <a:ea typeface="Noto Serif SC"/>
                <a:cs typeface="Noto Serif SC"/>
              </a:rPr>
              <a:t>数据准备与评估路径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BC5422A8-1EAC-4B29-9408-8C4C8B3AF619}"/>
              </a:ext>
            </a:extLst>
          </p:cNvPr>
          <p:cNvSpPr>
            <a:spLocks noGrp="1"/>
          </p:cNvSpPr>
          <p:nvPr/>
        </p:nvSpPr>
        <p:spPr>
          <a:xfrm>
            <a:off x="11182350" y="6305550"/>
            <a:ext cx="476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defRPr sz="1125" b="0" i="0">
                <a:solidFill>
                  <a:srgbClr val="B68235"/>
                </a:solidFill>
                <a:latin typeface="Georgia"/>
                <a:ea typeface="Georgia"/>
                <a:cs typeface="Georgia"/>
              </a:defRPr>
            </a:pPr>
            <a:r>
              <a:rPr sz="1125" b="0" i="0">
                <a:solidFill>
                  <a:srgbClr val="B68235"/>
                </a:solidFill>
                <a:latin typeface="Georgia"/>
                <a:ea typeface="Georgia"/>
                <a:cs typeface="Georgia"/>
              </a:rPr>
              <a:t>09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7DAB4E02-76E1-44BE-9F30-03936059B888}"/>
              </a:ext>
            </a:extLst>
          </p:cNvPr>
          <p:cNvSpPr>
            <a:spLocks noGrp="1"/>
          </p:cNvSpPr>
          <p:nvPr/>
        </p:nvSpPr>
        <p:spPr>
          <a:xfrm>
            <a:off x="552450" y="1524000"/>
            <a:ext cx="8572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500" b="0" i="0">
                <a:solidFill>
                  <a:srgbClr val="666160"/>
                </a:solidFill>
                <a:latin typeface="Noto Serif SC"/>
                <a:ea typeface="Noto Serif SC"/>
                <a:cs typeface="Noto Serif SC"/>
              </a:defRPr>
            </a:pPr>
            <a:r>
              <a:rPr sz="1500" b="0" i="0">
                <a:solidFill>
                  <a:srgbClr val="666160"/>
                </a:solidFill>
                <a:latin typeface="Noto Serif SC"/>
                <a:ea typeface="Noto Serif SC"/>
                <a:cs typeface="Noto Serif SC"/>
              </a:rPr>
              <a:t>每类数据对应明确用途，并通过人工样例检查验证关键模块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E77E425A-7076-48E5-8A91-29ACC273CA55}"/>
              </a:ext>
            </a:extLst>
          </p:cNvPr>
          <p:cNvSpPr>
            <a:spLocks noGrp="1"/>
          </p:cNvSpPr>
          <p:nvPr/>
        </p:nvSpPr>
        <p:spPr>
          <a:xfrm>
            <a:off x="552450" y="2114550"/>
            <a:ext cx="2000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800" b="1" i="0">
                <a:solidFill>
                  <a:srgbClr val="7D5411"/>
                </a:solidFill>
                <a:latin typeface="Noto Serif SC"/>
                <a:ea typeface="Noto Serif SC"/>
                <a:cs typeface="Noto Serif SC"/>
              </a:defRPr>
            </a:pPr>
            <a:r>
              <a:rPr sz="1800" b="1" i="0">
                <a:solidFill>
                  <a:srgbClr val="7D5411"/>
                </a:solidFill>
                <a:latin typeface="Noto Serif SC"/>
                <a:ea typeface="Noto Serif SC"/>
                <a:cs typeface="Noto Serif SC"/>
              </a:rPr>
              <a:t>数据来源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1E4098A1-799A-431C-BD2B-33BA5423882C}"/>
              </a:ext>
            </a:extLst>
          </p:cNvPr>
          <p:cNvSpPr>
            <a:spLocks noGrp="1"/>
          </p:cNvSpPr>
          <p:nvPr/>
        </p:nvSpPr>
        <p:spPr>
          <a:xfrm>
            <a:off x="4343400" y="2114550"/>
            <a:ext cx="2381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800" b="1" i="0">
                <a:solidFill>
                  <a:srgbClr val="7D5411"/>
                </a:solidFill>
                <a:latin typeface="Noto Serif SC"/>
                <a:ea typeface="Noto Serif SC"/>
                <a:cs typeface="Noto Serif SC"/>
              </a:defRPr>
            </a:pPr>
            <a:r>
              <a:rPr sz="1800" b="1" i="0">
                <a:solidFill>
                  <a:srgbClr val="7D5411"/>
                </a:solidFill>
                <a:latin typeface="Noto Serif SC"/>
                <a:ea typeface="Noto Serif SC"/>
                <a:cs typeface="Noto Serif SC"/>
              </a:rPr>
              <a:t>处理与使用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F9CD909B-F4BB-404B-9114-AB3354F8EA09}"/>
              </a:ext>
            </a:extLst>
          </p:cNvPr>
          <p:cNvSpPr>
            <a:spLocks noGrp="1"/>
          </p:cNvSpPr>
          <p:nvPr/>
        </p:nvSpPr>
        <p:spPr>
          <a:xfrm>
            <a:off x="8362950" y="2114550"/>
            <a:ext cx="2381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800" b="1" i="0">
                <a:solidFill>
                  <a:srgbClr val="7D5411"/>
                </a:solidFill>
                <a:latin typeface="Noto Serif SC"/>
                <a:ea typeface="Noto Serif SC"/>
                <a:cs typeface="Noto Serif SC"/>
              </a:defRPr>
            </a:pPr>
            <a:r>
              <a:rPr sz="1800" b="1" i="0" dirty="0" err="1">
                <a:solidFill>
                  <a:srgbClr val="7D5411"/>
                </a:solidFill>
                <a:latin typeface="Noto Serif SC"/>
                <a:ea typeface="Noto Serif SC"/>
                <a:cs typeface="Noto Serif SC"/>
              </a:rPr>
              <a:t>评估问题</a:t>
            </a:r>
            <a:endParaRPr sz="1800" b="1" i="0" dirty="0">
              <a:solidFill>
                <a:srgbClr val="7D5411"/>
              </a:solidFill>
              <a:latin typeface="Noto Serif SC"/>
              <a:ea typeface="Noto Serif SC"/>
              <a:cs typeface="Noto Serif SC"/>
            </a:endParaRPr>
          </a:p>
        </p:txBody>
      </p:sp>
      <p:sp>
        <p:nvSpPr>
          <p:cNvPr id="10" name="直接连接符 9">
            <a:extLst>
              <a:ext uri="{FF2B5EF4-FFF2-40B4-BE49-F238E27FC236}">
                <a16:creationId xmlns:a16="http://schemas.microsoft.com/office/drawing/2014/main" id="{96C4A73E-70A2-4D46-972C-E4C891A629AF}"/>
              </a:ext>
            </a:extLst>
          </p:cNvPr>
          <p:cNvSpPr>
            <a:spLocks noGrp="1"/>
          </p:cNvSpPr>
          <p:nvPr/>
        </p:nvSpPr>
        <p:spPr>
          <a:xfrm>
            <a:off x="552450" y="2857500"/>
            <a:ext cx="190500" cy="0"/>
          </a:xfrm>
          <a:prstGeom prst="line">
            <a:avLst/>
          </a:prstGeom>
          <a:noFill/>
          <a:ln w="22860">
            <a:solidFill>
              <a:srgbClr val="B6823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7450186E-9326-4A49-9C2B-5F72957A726E}"/>
              </a:ext>
            </a:extLst>
          </p:cNvPr>
          <p:cNvSpPr>
            <a:spLocks noGrp="1"/>
          </p:cNvSpPr>
          <p:nvPr/>
        </p:nvSpPr>
        <p:spPr>
          <a:xfrm>
            <a:off x="857250" y="2686050"/>
            <a:ext cx="25717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350" b="0" i="0">
                <a:solidFill>
                  <a:srgbClr val="666160"/>
                </a:solidFill>
                <a:latin typeface="Noto Serif SC"/>
                <a:ea typeface="Noto Serif SC"/>
                <a:cs typeface="Noto Serif SC"/>
              </a:defRPr>
            </a:pPr>
            <a:r>
              <a:rPr sz="1350" b="0" i="0">
                <a:solidFill>
                  <a:srgbClr val="666160"/>
                </a:solidFill>
                <a:latin typeface="Noto Serif SC"/>
                <a:ea typeface="Noto Serif SC"/>
                <a:cs typeface="Noto Serif SC"/>
              </a:rPr>
              <a:t>公开 IT 岗位 JD</a:t>
            </a:r>
          </a:p>
        </p:txBody>
      </p:sp>
      <p:sp>
        <p:nvSpPr>
          <p:cNvPr id="12" name="直接连接符 11">
            <a:extLst>
              <a:ext uri="{FF2B5EF4-FFF2-40B4-BE49-F238E27FC236}">
                <a16:creationId xmlns:a16="http://schemas.microsoft.com/office/drawing/2014/main" id="{6A4C8791-5D0D-4942-8BB2-6D5ECDE59EB6}"/>
              </a:ext>
            </a:extLst>
          </p:cNvPr>
          <p:cNvSpPr>
            <a:spLocks noGrp="1"/>
          </p:cNvSpPr>
          <p:nvPr/>
        </p:nvSpPr>
        <p:spPr>
          <a:xfrm>
            <a:off x="552450" y="3448050"/>
            <a:ext cx="190500" cy="0"/>
          </a:xfrm>
          <a:prstGeom prst="line">
            <a:avLst/>
          </a:prstGeom>
          <a:noFill/>
          <a:ln w="22860">
            <a:solidFill>
              <a:srgbClr val="B6823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45611E78-8B30-44A1-8C47-CAA2481E4E9A}"/>
              </a:ext>
            </a:extLst>
          </p:cNvPr>
          <p:cNvSpPr>
            <a:spLocks noGrp="1"/>
          </p:cNvSpPr>
          <p:nvPr/>
        </p:nvSpPr>
        <p:spPr>
          <a:xfrm>
            <a:off x="857250" y="3276600"/>
            <a:ext cx="25717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350" b="0" i="0">
                <a:solidFill>
                  <a:srgbClr val="666160"/>
                </a:solidFill>
                <a:latin typeface="Noto Serif SC"/>
                <a:ea typeface="Noto Serif SC"/>
                <a:cs typeface="Noto Serif SC"/>
              </a:defRPr>
            </a:pPr>
            <a:r>
              <a:rPr sz="1350" b="0" i="0">
                <a:solidFill>
                  <a:srgbClr val="666160"/>
                </a:solidFill>
                <a:latin typeface="Noto Serif SC"/>
                <a:ea typeface="Noto Serif SC"/>
                <a:cs typeface="Noto Serif SC"/>
              </a:rPr>
              <a:t>ESCO / O*NET</a:t>
            </a:r>
          </a:p>
        </p:txBody>
      </p:sp>
      <p:sp>
        <p:nvSpPr>
          <p:cNvPr id="14" name="直接连接符 13">
            <a:extLst>
              <a:ext uri="{FF2B5EF4-FFF2-40B4-BE49-F238E27FC236}">
                <a16:creationId xmlns:a16="http://schemas.microsoft.com/office/drawing/2014/main" id="{20F2B2BF-4395-4691-BCD0-B84A4BE14FF7}"/>
              </a:ext>
            </a:extLst>
          </p:cNvPr>
          <p:cNvSpPr>
            <a:spLocks noGrp="1"/>
          </p:cNvSpPr>
          <p:nvPr/>
        </p:nvSpPr>
        <p:spPr>
          <a:xfrm>
            <a:off x="552450" y="4038600"/>
            <a:ext cx="190500" cy="0"/>
          </a:xfrm>
          <a:prstGeom prst="line">
            <a:avLst/>
          </a:prstGeom>
          <a:noFill/>
          <a:ln w="22860">
            <a:solidFill>
              <a:srgbClr val="B6823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353736EF-EC8C-4C22-A32A-F8A678D0D488}"/>
              </a:ext>
            </a:extLst>
          </p:cNvPr>
          <p:cNvSpPr>
            <a:spLocks noGrp="1"/>
          </p:cNvSpPr>
          <p:nvPr/>
        </p:nvSpPr>
        <p:spPr>
          <a:xfrm>
            <a:off x="857250" y="3867150"/>
            <a:ext cx="25717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350" b="0" i="0">
                <a:solidFill>
                  <a:srgbClr val="666160"/>
                </a:solidFill>
                <a:latin typeface="Noto Serif SC"/>
                <a:ea typeface="Noto Serif SC"/>
                <a:cs typeface="Noto Serif SC"/>
              </a:defRPr>
            </a:pPr>
            <a:r>
              <a:rPr sz="1350" b="0" i="0">
                <a:solidFill>
                  <a:srgbClr val="666160"/>
                </a:solidFill>
                <a:latin typeface="Noto Serif SC"/>
                <a:ea typeface="Noto Serif SC"/>
                <a:cs typeface="Noto Serif SC"/>
              </a:rPr>
              <a:t>脱敏简历样本</a:t>
            </a:r>
          </a:p>
        </p:txBody>
      </p:sp>
      <p:sp>
        <p:nvSpPr>
          <p:cNvPr id="16" name="直接连接符 15">
            <a:extLst>
              <a:ext uri="{FF2B5EF4-FFF2-40B4-BE49-F238E27FC236}">
                <a16:creationId xmlns:a16="http://schemas.microsoft.com/office/drawing/2014/main" id="{74F95C7E-2ED9-45C5-B1DA-3E5D733E7CAE}"/>
              </a:ext>
            </a:extLst>
          </p:cNvPr>
          <p:cNvSpPr>
            <a:spLocks noGrp="1"/>
          </p:cNvSpPr>
          <p:nvPr/>
        </p:nvSpPr>
        <p:spPr>
          <a:xfrm>
            <a:off x="552450" y="4629150"/>
            <a:ext cx="190500" cy="0"/>
          </a:xfrm>
          <a:prstGeom prst="line">
            <a:avLst/>
          </a:prstGeom>
          <a:noFill/>
          <a:ln w="22860">
            <a:solidFill>
              <a:srgbClr val="B6823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25A99EA9-FD92-4161-A0E1-DE3FD67A2575}"/>
              </a:ext>
            </a:extLst>
          </p:cNvPr>
          <p:cNvSpPr>
            <a:spLocks noGrp="1"/>
          </p:cNvSpPr>
          <p:nvPr/>
        </p:nvSpPr>
        <p:spPr>
          <a:xfrm>
            <a:off x="857250" y="4457700"/>
            <a:ext cx="25717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350" b="0" i="0">
                <a:solidFill>
                  <a:srgbClr val="666160"/>
                </a:solidFill>
                <a:latin typeface="Noto Serif SC"/>
                <a:ea typeface="Noto Serif SC"/>
                <a:cs typeface="Noto Serif SC"/>
              </a:defRPr>
            </a:pPr>
            <a:r>
              <a:rPr sz="1350" b="0" i="0">
                <a:solidFill>
                  <a:srgbClr val="666160"/>
                </a:solidFill>
                <a:latin typeface="Noto Serif SC"/>
                <a:ea typeface="Noto Serif SC"/>
                <a:cs typeface="Noto Serif SC"/>
              </a:rPr>
              <a:t>公开面试材料</a:t>
            </a:r>
          </a:p>
        </p:txBody>
      </p:sp>
      <p:sp>
        <p:nvSpPr>
          <p:cNvPr id="18" name="直接连接符 17">
            <a:extLst>
              <a:ext uri="{FF2B5EF4-FFF2-40B4-BE49-F238E27FC236}">
                <a16:creationId xmlns:a16="http://schemas.microsoft.com/office/drawing/2014/main" id="{AD6CABFF-3BBC-4E55-9104-AF316C51DF6E}"/>
              </a:ext>
            </a:extLst>
          </p:cNvPr>
          <p:cNvSpPr>
            <a:spLocks noGrp="1"/>
          </p:cNvSpPr>
          <p:nvPr/>
        </p:nvSpPr>
        <p:spPr>
          <a:xfrm>
            <a:off x="552450" y="5219700"/>
            <a:ext cx="190500" cy="0"/>
          </a:xfrm>
          <a:prstGeom prst="line">
            <a:avLst/>
          </a:prstGeom>
          <a:noFill/>
          <a:ln w="22860">
            <a:solidFill>
              <a:srgbClr val="B6823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D19B57A6-4610-47FA-9778-4F21F9932C7C}"/>
              </a:ext>
            </a:extLst>
          </p:cNvPr>
          <p:cNvSpPr>
            <a:spLocks noGrp="1"/>
          </p:cNvSpPr>
          <p:nvPr/>
        </p:nvSpPr>
        <p:spPr>
          <a:xfrm>
            <a:off x="857250" y="5048250"/>
            <a:ext cx="25717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350" b="0" i="0">
                <a:solidFill>
                  <a:srgbClr val="666160"/>
                </a:solidFill>
                <a:latin typeface="Noto Serif SC"/>
                <a:ea typeface="Noto Serif SC"/>
                <a:cs typeface="Noto Serif SC"/>
              </a:defRPr>
            </a:pPr>
            <a:r>
              <a:rPr sz="1350" b="0" i="0">
                <a:solidFill>
                  <a:srgbClr val="666160"/>
                </a:solidFill>
                <a:latin typeface="Noto Serif SC"/>
                <a:ea typeface="Noto Serif SC"/>
                <a:cs typeface="Noto Serif SC"/>
              </a:rPr>
              <a:t>团队相关性判断</a:t>
            </a:r>
          </a:p>
        </p:txBody>
      </p:sp>
      <p:sp>
        <p:nvSpPr>
          <p:cNvPr id="20" name="直接连接符 19">
            <a:extLst>
              <a:ext uri="{FF2B5EF4-FFF2-40B4-BE49-F238E27FC236}">
                <a16:creationId xmlns:a16="http://schemas.microsoft.com/office/drawing/2014/main" id="{18FE35D1-1025-421B-85FA-DDF2FCA2C795}"/>
              </a:ext>
            </a:extLst>
          </p:cNvPr>
          <p:cNvSpPr>
            <a:spLocks noGrp="1"/>
          </p:cNvSpPr>
          <p:nvPr/>
        </p:nvSpPr>
        <p:spPr>
          <a:xfrm>
            <a:off x="4343400" y="2857500"/>
            <a:ext cx="190500" cy="0"/>
          </a:xfrm>
          <a:prstGeom prst="line">
            <a:avLst/>
          </a:prstGeom>
          <a:noFill/>
          <a:ln w="22860">
            <a:solidFill>
              <a:srgbClr val="B6823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6E754C30-FAC1-4E06-AD10-55B1029D1636}"/>
              </a:ext>
            </a:extLst>
          </p:cNvPr>
          <p:cNvSpPr>
            <a:spLocks noGrp="1"/>
          </p:cNvSpPr>
          <p:nvPr/>
        </p:nvSpPr>
        <p:spPr>
          <a:xfrm>
            <a:off x="4648200" y="2686050"/>
            <a:ext cx="25717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350" b="0" i="0">
                <a:solidFill>
                  <a:srgbClr val="666160"/>
                </a:solidFill>
                <a:latin typeface="Noto Serif SC"/>
                <a:ea typeface="Noto Serif SC"/>
                <a:cs typeface="Noto Serif SC"/>
              </a:defRPr>
            </a:pPr>
            <a:r>
              <a:rPr sz="1350" b="0" i="0">
                <a:solidFill>
                  <a:srgbClr val="666160"/>
                </a:solidFill>
                <a:latin typeface="Noto Serif SC"/>
                <a:ea typeface="Noto Serif SC"/>
                <a:cs typeface="Noto Serif SC"/>
              </a:rPr>
              <a:t>清洗与结构化抽取</a:t>
            </a:r>
          </a:p>
        </p:txBody>
      </p:sp>
      <p:sp>
        <p:nvSpPr>
          <p:cNvPr id="22" name="直接连接符 21">
            <a:extLst>
              <a:ext uri="{FF2B5EF4-FFF2-40B4-BE49-F238E27FC236}">
                <a16:creationId xmlns:a16="http://schemas.microsoft.com/office/drawing/2014/main" id="{D61F97A6-9053-44DB-98ED-F7A14131EF01}"/>
              </a:ext>
            </a:extLst>
          </p:cNvPr>
          <p:cNvSpPr>
            <a:spLocks noGrp="1"/>
          </p:cNvSpPr>
          <p:nvPr/>
        </p:nvSpPr>
        <p:spPr>
          <a:xfrm>
            <a:off x="4343400" y="3448050"/>
            <a:ext cx="190500" cy="0"/>
          </a:xfrm>
          <a:prstGeom prst="line">
            <a:avLst/>
          </a:prstGeom>
          <a:noFill/>
          <a:ln w="22860">
            <a:solidFill>
              <a:srgbClr val="B6823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CF1C244B-50A6-4768-A869-E438C32DD6C6}"/>
              </a:ext>
            </a:extLst>
          </p:cNvPr>
          <p:cNvSpPr>
            <a:spLocks noGrp="1"/>
          </p:cNvSpPr>
          <p:nvPr/>
        </p:nvSpPr>
        <p:spPr>
          <a:xfrm>
            <a:off x="4648200" y="3276600"/>
            <a:ext cx="25717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350" b="0" i="0">
                <a:solidFill>
                  <a:srgbClr val="666160"/>
                </a:solidFill>
                <a:latin typeface="Noto Serif SC"/>
                <a:ea typeface="Noto Serif SC"/>
                <a:cs typeface="Noto Serif SC"/>
              </a:defRPr>
            </a:pPr>
            <a:r>
              <a:rPr sz="1350" b="0" i="0">
                <a:solidFill>
                  <a:srgbClr val="666160"/>
                </a:solidFill>
                <a:latin typeface="Noto Serif SC"/>
                <a:ea typeface="Noto Serif SC"/>
                <a:cs typeface="Noto Serif SC"/>
              </a:rPr>
              <a:t>技能别名与关系整理</a:t>
            </a:r>
          </a:p>
        </p:txBody>
      </p:sp>
      <p:sp>
        <p:nvSpPr>
          <p:cNvPr id="24" name="直接连接符 23">
            <a:extLst>
              <a:ext uri="{FF2B5EF4-FFF2-40B4-BE49-F238E27FC236}">
                <a16:creationId xmlns:a16="http://schemas.microsoft.com/office/drawing/2014/main" id="{809358D0-E14A-417D-AA52-9776BEF14E1C}"/>
              </a:ext>
            </a:extLst>
          </p:cNvPr>
          <p:cNvSpPr>
            <a:spLocks noGrp="1"/>
          </p:cNvSpPr>
          <p:nvPr/>
        </p:nvSpPr>
        <p:spPr>
          <a:xfrm>
            <a:off x="4343400" y="4038600"/>
            <a:ext cx="190500" cy="0"/>
          </a:xfrm>
          <a:prstGeom prst="line">
            <a:avLst/>
          </a:prstGeom>
          <a:noFill/>
          <a:ln w="22860">
            <a:solidFill>
              <a:srgbClr val="B6823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5375227C-A9CF-4B7F-886F-17C9C2067DF1}"/>
              </a:ext>
            </a:extLst>
          </p:cNvPr>
          <p:cNvSpPr>
            <a:spLocks noGrp="1"/>
          </p:cNvSpPr>
          <p:nvPr/>
        </p:nvSpPr>
        <p:spPr>
          <a:xfrm>
            <a:off x="4648200" y="3867150"/>
            <a:ext cx="25717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350" b="0" i="0">
                <a:solidFill>
                  <a:srgbClr val="666160"/>
                </a:solidFill>
                <a:latin typeface="Noto Serif SC"/>
                <a:ea typeface="Noto Serif SC"/>
                <a:cs typeface="Noto Serif SC"/>
              </a:defRPr>
            </a:pPr>
            <a:r>
              <a:rPr sz="1350" b="0" i="0">
                <a:solidFill>
                  <a:srgbClr val="666160"/>
                </a:solidFill>
                <a:latin typeface="Noto Serif SC"/>
                <a:ea typeface="Noto Serif SC"/>
                <a:cs typeface="Noto Serif SC"/>
              </a:rPr>
              <a:t>学生画像与事实证据</a:t>
            </a:r>
          </a:p>
        </p:txBody>
      </p:sp>
      <p:sp>
        <p:nvSpPr>
          <p:cNvPr id="26" name="直接连接符 25">
            <a:extLst>
              <a:ext uri="{FF2B5EF4-FFF2-40B4-BE49-F238E27FC236}">
                <a16:creationId xmlns:a16="http://schemas.microsoft.com/office/drawing/2014/main" id="{F088F7A9-79FB-496C-9028-022E3FF2B1DF}"/>
              </a:ext>
            </a:extLst>
          </p:cNvPr>
          <p:cNvSpPr>
            <a:spLocks noGrp="1"/>
          </p:cNvSpPr>
          <p:nvPr/>
        </p:nvSpPr>
        <p:spPr>
          <a:xfrm>
            <a:off x="4343400" y="4629150"/>
            <a:ext cx="190500" cy="0"/>
          </a:xfrm>
          <a:prstGeom prst="line">
            <a:avLst/>
          </a:prstGeom>
          <a:noFill/>
          <a:ln w="22860">
            <a:solidFill>
              <a:srgbClr val="B6823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D0D8B77F-02CD-46D5-95EC-8589DE5D93F5}"/>
              </a:ext>
            </a:extLst>
          </p:cNvPr>
          <p:cNvSpPr>
            <a:spLocks noGrp="1"/>
          </p:cNvSpPr>
          <p:nvPr/>
        </p:nvSpPr>
        <p:spPr>
          <a:xfrm>
            <a:off x="4648200" y="4457700"/>
            <a:ext cx="25717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350" b="0" i="0">
                <a:solidFill>
                  <a:srgbClr val="666160"/>
                </a:solidFill>
                <a:latin typeface="Noto Serif SC"/>
                <a:ea typeface="Noto Serif SC"/>
                <a:cs typeface="Noto Serif SC"/>
              </a:defRPr>
            </a:pPr>
            <a:r>
              <a:rPr sz="1350" b="0" i="0">
                <a:solidFill>
                  <a:srgbClr val="666160"/>
                </a:solidFill>
                <a:latin typeface="Noto Serif SC"/>
                <a:ea typeface="Noto Serif SC"/>
                <a:cs typeface="Noto Serif SC"/>
              </a:rPr>
              <a:t>题库与反馈规则</a:t>
            </a:r>
          </a:p>
        </p:txBody>
      </p:sp>
      <p:sp>
        <p:nvSpPr>
          <p:cNvPr id="28" name="直接连接符 27">
            <a:extLst>
              <a:ext uri="{FF2B5EF4-FFF2-40B4-BE49-F238E27FC236}">
                <a16:creationId xmlns:a16="http://schemas.microsoft.com/office/drawing/2014/main" id="{56878B49-FE0E-4E48-B2A4-FA4C6166538C}"/>
              </a:ext>
            </a:extLst>
          </p:cNvPr>
          <p:cNvSpPr>
            <a:spLocks noGrp="1"/>
          </p:cNvSpPr>
          <p:nvPr/>
        </p:nvSpPr>
        <p:spPr>
          <a:xfrm>
            <a:off x="4343400" y="5219700"/>
            <a:ext cx="190500" cy="0"/>
          </a:xfrm>
          <a:prstGeom prst="line">
            <a:avLst/>
          </a:prstGeom>
          <a:noFill/>
          <a:ln w="22860">
            <a:solidFill>
              <a:srgbClr val="B6823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18D673CC-AC3D-4219-9262-E2E4ED7E869E}"/>
              </a:ext>
            </a:extLst>
          </p:cNvPr>
          <p:cNvSpPr>
            <a:spLocks noGrp="1"/>
          </p:cNvSpPr>
          <p:nvPr/>
        </p:nvSpPr>
        <p:spPr>
          <a:xfrm>
            <a:off x="4648200" y="5048250"/>
            <a:ext cx="25717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350" b="0" i="0">
                <a:solidFill>
                  <a:srgbClr val="666160"/>
                </a:solidFill>
                <a:latin typeface="Noto Serif SC"/>
                <a:ea typeface="Noto Serif SC"/>
                <a:cs typeface="Noto Serif SC"/>
              </a:defRPr>
            </a:pPr>
            <a:r>
              <a:rPr sz="1350" b="0" i="0">
                <a:solidFill>
                  <a:srgbClr val="666160"/>
                </a:solidFill>
                <a:latin typeface="Noto Serif SC"/>
                <a:ea typeface="Noto Serif SC"/>
                <a:cs typeface="Noto Serif SC"/>
              </a:rPr>
              <a:t>排序权重调校</a:t>
            </a:r>
          </a:p>
        </p:txBody>
      </p:sp>
      <p:sp>
        <p:nvSpPr>
          <p:cNvPr id="30" name="直接连接符 29">
            <a:extLst>
              <a:ext uri="{FF2B5EF4-FFF2-40B4-BE49-F238E27FC236}">
                <a16:creationId xmlns:a16="http://schemas.microsoft.com/office/drawing/2014/main" id="{34D811D1-6480-43D6-8EF5-D44EC5FBA5C7}"/>
              </a:ext>
            </a:extLst>
          </p:cNvPr>
          <p:cNvSpPr>
            <a:spLocks noGrp="1"/>
          </p:cNvSpPr>
          <p:nvPr/>
        </p:nvSpPr>
        <p:spPr>
          <a:xfrm>
            <a:off x="8362950" y="2857500"/>
            <a:ext cx="190500" cy="0"/>
          </a:xfrm>
          <a:prstGeom prst="line">
            <a:avLst/>
          </a:prstGeom>
          <a:noFill/>
          <a:ln w="22860">
            <a:solidFill>
              <a:srgbClr val="C0492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C7821AA8-C58B-4C9D-9C1A-8E1490522306}"/>
              </a:ext>
            </a:extLst>
          </p:cNvPr>
          <p:cNvSpPr>
            <a:spLocks noGrp="1"/>
          </p:cNvSpPr>
          <p:nvPr/>
        </p:nvSpPr>
        <p:spPr>
          <a:xfrm>
            <a:off x="8667750" y="2686050"/>
            <a:ext cx="29908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350" b="1" i="0">
                <a:solidFill>
                  <a:srgbClr val="201F1D"/>
                </a:solidFill>
                <a:latin typeface="Noto Serif SC"/>
                <a:ea typeface="Noto Serif SC"/>
                <a:cs typeface="Noto Serif SC"/>
              </a:defRPr>
            </a:pPr>
            <a:r>
              <a:rPr sz="1350" b="1" i="0">
                <a:solidFill>
                  <a:srgbClr val="201F1D"/>
                </a:solidFill>
                <a:latin typeface="Noto Serif SC"/>
                <a:ea typeface="Noto Serif SC"/>
                <a:cs typeface="Noto Serif SC"/>
              </a:rPr>
              <a:t>抽取是否准确</a:t>
            </a:r>
          </a:p>
        </p:txBody>
      </p:sp>
      <p:sp>
        <p:nvSpPr>
          <p:cNvPr id="32" name="直接连接符 31">
            <a:extLst>
              <a:ext uri="{FF2B5EF4-FFF2-40B4-BE49-F238E27FC236}">
                <a16:creationId xmlns:a16="http://schemas.microsoft.com/office/drawing/2014/main" id="{72103BF6-820C-49FB-B59E-86FFEE3AEB87}"/>
              </a:ext>
            </a:extLst>
          </p:cNvPr>
          <p:cNvSpPr>
            <a:spLocks noGrp="1"/>
          </p:cNvSpPr>
          <p:nvPr/>
        </p:nvSpPr>
        <p:spPr>
          <a:xfrm>
            <a:off x="8362950" y="3448050"/>
            <a:ext cx="190500" cy="0"/>
          </a:xfrm>
          <a:prstGeom prst="line">
            <a:avLst/>
          </a:prstGeom>
          <a:noFill/>
          <a:ln w="22860">
            <a:solidFill>
              <a:srgbClr val="C0492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AE867EEA-2FB6-461A-A918-BFEFFFFF2F93}"/>
              </a:ext>
            </a:extLst>
          </p:cNvPr>
          <p:cNvSpPr>
            <a:spLocks noGrp="1"/>
          </p:cNvSpPr>
          <p:nvPr/>
        </p:nvSpPr>
        <p:spPr>
          <a:xfrm>
            <a:off x="8667750" y="3276600"/>
            <a:ext cx="29908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350" b="1" i="0">
                <a:solidFill>
                  <a:srgbClr val="201F1D"/>
                </a:solidFill>
                <a:latin typeface="Noto Serif SC"/>
                <a:ea typeface="Noto Serif SC"/>
                <a:cs typeface="Noto Serif SC"/>
              </a:defRPr>
            </a:pPr>
            <a:r>
              <a:rPr sz="1350" b="1" i="0" dirty="0" err="1">
                <a:solidFill>
                  <a:srgbClr val="201F1D"/>
                </a:solidFill>
                <a:latin typeface="Noto Serif SC"/>
                <a:ea typeface="Noto Serif SC"/>
                <a:cs typeface="Noto Serif SC"/>
              </a:rPr>
              <a:t>推荐顺序是否合理</a:t>
            </a:r>
            <a:endParaRPr sz="1350" b="1" i="0" dirty="0">
              <a:solidFill>
                <a:srgbClr val="201F1D"/>
              </a:solidFill>
              <a:latin typeface="Noto Serif SC"/>
              <a:ea typeface="Noto Serif SC"/>
              <a:cs typeface="Noto Serif SC"/>
            </a:endParaRPr>
          </a:p>
        </p:txBody>
      </p:sp>
      <p:sp>
        <p:nvSpPr>
          <p:cNvPr id="34" name="直接连接符 33">
            <a:extLst>
              <a:ext uri="{FF2B5EF4-FFF2-40B4-BE49-F238E27FC236}">
                <a16:creationId xmlns:a16="http://schemas.microsoft.com/office/drawing/2014/main" id="{4BA1C7F2-A196-44A8-8FCC-C099660B5113}"/>
              </a:ext>
            </a:extLst>
          </p:cNvPr>
          <p:cNvSpPr>
            <a:spLocks noGrp="1"/>
          </p:cNvSpPr>
          <p:nvPr/>
        </p:nvSpPr>
        <p:spPr>
          <a:xfrm>
            <a:off x="8362950" y="4038600"/>
            <a:ext cx="190500" cy="0"/>
          </a:xfrm>
          <a:prstGeom prst="line">
            <a:avLst/>
          </a:prstGeom>
          <a:noFill/>
          <a:ln w="22860">
            <a:solidFill>
              <a:srgbClr val="C0492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C036CDB0-17D0-4F3F-9499-6EB11F26C65D}"/>
              </a:ext>
            </a:extLst>
          </p:cNvPr>
          <p:cNvSpPr>
            <a:spLocks noGrp="1"/>
          </p:cNvSpPr>
          <p:nvPr/>
        </p:nvSpPr>
        <p:spPr>
          <a:xfrm>
            <a:off x="8667750" y="3867150"/>
            <a:ext cx="29908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350" b="1" i="0">
                <a:solidFill>
                  <a:srgbClr val="201F1D"/>
                </a:solidFill>
                <a:latin typeface="Noto Serif SC"/>
                <a:ea typeface="Noto Serif SC"/>
                <a:cs typeface="Noto Serif SC"/>
              </a:defRPr>
            </a:pPr>
            <a:r>
              <a:rPr sz="1350" b="1" i="0">
                <a:solidFill>
                  <a:srgbClr val="201F1D"/>
                </a:solidFill>
                <a:latin typeface="Noto Serif SC"/>
                <a:ea typeface="Noto Serif SC"/>
                <a:cs typeface="Noto Serif SC"/>
              </a:rPr>
              <a:t>差距解释是否可信</a:t>
            </a:r>
          </a:p>
        </p:txBody>
      </p:sp>
      <p:sp>
        <p:nvSpPr>
          <p:cNvPr id="36" name="直接连接符 35">
            <a:extLst>
              <a:ext uri="{FF2B5EF4-FFF2-40B4-BE49-F238E27FC236}">
                <a16:creationId xmlns:a16="http://schemas.microsoft.com/office/drawing/2014/main" id="{F5EAB3F8-D9CE-4AE2-83E2-75188398033C}"/>
              </a:ext>
            </a:extLst>
          </p:cNvPr>
          <p:cNvSpPr>
            <a:spLocks noGrp="1"/>
          </p:cNvSpPr>
          <p:nvPr/>
        </p:nvSpPr>
        <p:spPr>
          <a:xfrm>
            <a:off x="8362950" y="4629150"/>
            <a:ext cx="190500" cy="0"/>
          </a:xfrm>
          <a:prstGeom prst="line">
            <a:avLst/>
          </a:prstGeom>
          <a:noFill/>
          <a:ln w="22860">
            <a:solidFill>
              <a:srgbClr val="C0492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7559EDC6-8258-424C-A9E5-57367EAE4176}"/>
              </a:ext>
            </a:extLst>
          </p:cNvPr>
          <p:cNvSpPr>
            <a:spLocks noGrp="1"/>
          </p:cNvSpPr>
          <p:nvPr/>
        </p:nvSpPr>
        <p:spPr>
          <a:xfrm>
            <a:off x="8667750" y="4457700"/>
            <a:ext cx="29908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350" b="1" i="0">
                <a:solidFill>
                  <a:srgbClr val="201F1D"/>
                </a:solidFill>
                <a:latin typeface="Noto Serif SC"/>
                <a:ea typeface="Noto Serif SC"/>
                <a:cs typeface="Noto Serif SC"/>
              </a:defRPr>
            </a:pPr>
            <a:r>
              <a:rPr sz="1350" b="1" i="0">
                <a:solidFill>
                  <a:srgbClr val="201F1D"/>
                </a:solidFill>
                <a:latin typeface="Noto Serif SC"/>
                <a:ea typeface="Noto Serif SC"/>
                <a:cs typeface="Noto Serif SC"/>
              </a:rPr>
              <a:t>改写是否保持事实</a:t>
            </a:r>
          </a:p>
        </p:txBody>
      </p:sp>
      <p:sp>
        <p:nvSpPr>
          <p:cNvPr id="38" name="直接连接符 37">
            <a:extLst>
              <a:ext uri="{FF2B5EF4-FFF2-40B4-BE49-F238E27FC236}">
                <a16:creationId xmlns:a16="http://schemas.microsoft.com/office/drawing/2014/main" id="{3B3AEAEE-C5BB-4487-B4A5-4CDAD5E00D68}"/>
              </a:ext>
            </a:extLst>
          </p:cNvPr>
          <p:cNvSpPr>
            <a:spLocks noGrp="1"/>
          </p:cNvSpPr>
          <p:nvPr/>
        </p:nvSpPr>
        <p:spPr>
          <a:xfrm>
            <a:off x="8362950" y="5219700"/>
            <a:ext cx="190500" cy="0"/>
          </a:xfrm>
          <a:prstGeom prst="line">
            <a:avLst/>
          </a:prstGeom>
          <a:noFill/>
          <a:ln w="22860">
            <a:solidFill>
              <a:srgbClr val="C0492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E91EEAF1-B7FF-45BF-9D18-8B74FEF45AFE}"/>
              </a:ext>
            </a:extLst>
          </p:cNvPr>
          <p:cNvSpPr>
            <a:spLocks noGrp="1"/>
          </p:cNvSpPr>
          <p:nvPr/>
        </p:nvSpPr>
        <p:spPr>
          <a:xfrm>
            <a:off x="8667750" y="5048250"/>
            <a:ext cx="29908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350" b="1" i="0">
                <a:solidFill>
                  <a:srgbClr val="201F1D"/>
                </a:solidFill>
                <a:latin typeface="Noto Serif SC"/>
                <a:ea typeface="Noto Serif SC"/>
                <a:cs typeface="Noto Serif SC"/>
              </a:defRPr>
            </a:pPr>
            <a:r>
              <a:rPr sz="1350" b="1" i="0">
                <a:solidFill>
                  <a:srgbClr val="201F1D"/>
                </a:solidFill>
                <a:latin typeface="Noto Serif SC"/>
                <a:ea typeface="Noto Serif SC"/>
                <a:cs typeface="Noto Serif SC"/>
              </a:rPr>
              <a:t>面试与计划是否实用</a:t>
            </a:r>
          </a:p>
        </p:txBody>
      </p:sp>
      <p:sp>
        <p:nvSpPr>
          <p:cNvPr id="40" name="直接连接符 39">
            <a:extLst>
              <a:ext uri="{FF2B5EF4-FFF2-40B4-BE49-F238E27FC236}">
                <a16:creationId xmlns:a16="http://schemas.microsoft.com/office/drawing/2014/main" id="{1A81C2BC-F344-42A2-A0FD-DBC453C8DF3D}"/>
              </a:ext>
            </a:extLst>
          </p:cNvPr>
          <p:cNvSpPr>
            <a:spLocks noGrp="1"/>
          </p:cNvSpPr>
          <p:nvPr/>
        </p:nvSpPr>
        <p:spPr>
          <a:xfrm>
            <a:off x="3714750" y="2533650"/>
            <a:ext cx="0" cy="3086100"/>
          </a:xfrm>
          <a:prstGeom prst="line">
            <a:avLst/>
          </a:prstGeom>
          <a:noFill/>
          <a:ln w="9525">
            <a:solidFill>
              <a:srgbClr val="C9C5C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1" name="直接连接符 40">
            <a:extLst>
              <a:ext uri="{FF2B5EF4-FFF2-40B4-BE49-F238E27FC236}">
                <a16:creationId xmlns:a16="http://schemas.microsoft.com/office/drawing/2014/main" id="{F5169F73-0D2C-47A2-96E7-0A43955F3B21}"/>
              </a:ext>
            </a:extLst>
          </p:cNvPr>
          <p:cNvSpPr>
            <a:spLocks noGrp="1"/>
          </p:cNvSpPr>
          <p:nvPr/>
        </p:nvSpPr>
        <p:spPr>
          <a:xfrm>
            <a:off x="7791450" y="2533650"/>
            <a:ext cx="0" cy="3086100"/>
          </a:xfrm>
          <a:prstGeom prst="line">
            <a:avLst/>
          </a:prstGeom>
          <a:noFill/>
          <a:ln w="9525">
            <a:solidFill>
              <a:srgbClr val="C9C5C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2CED1063-F42A-4805-8E6A-7B5B3E93899A}"/>
              </a:ext>
            </a:extLst>
          </p:cNvPr>
          <p:cNvSpPr>
            <a:spLocks noGrp="1"/>
          </p:cNvSpPr>
          <p:nvPr/>
        </p:nvSpPr>
        <p:spPr>
          <a:xfrm>
            <a:off x="552450" y="5829300"/>
            <a:ext cx="11106150" cy="514350"/>
          </a:xfrm>
          <a:prstGeom prst="rect">
            <a:avLst/>
          </a:prstGeom>
          <a:solidFill>
            <a:srgbClr val="FFF3E4"/>
          </a:solidFill>
          <a:ln w="9525">
            <a:solidFill>
              <a:srgbClr val="B6823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325DC979-E040-498A-812F-E07707AD9546}"/>
              </a:ext>
            </a:extLst>
          </p:cNvPr>
          <p:cNvSpPr>
            <a:spLocks noGrp="1"/>
          </p:cNvSpPr>
          <p:nvPr/>
        </p:nvSpPr>
        <p:spPr>
          <a:xfrm>
            <a:off x="762000" y="5962650"/>
            <a:ext cx="16002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350" b="1" i="0">
                <a:solidFill>
                  <a:srgbClr val="C0492F"/>
                </a:solidFill>
                <a:latin typeface="Noto Serif SC"/>
                <a:ea typeface="Noto Serif SC"/>
                <a:cs typeface="Noto Serif SC"/>
              </a:defRPr>
            </a:pPr>
            <a:r>
              <a:rPr sz="1350" b="1" i="0">
                <a:solidFill>
                  <a:srgbClr val="C0492F"/>
                </a:solidFill>
                <a:latin typeface="Noto Serif SC"/>
                <a:ea typeface="Noto Serif SC"/>
                <a:cs typeface="Noto Serif SC"/>
              </a:rPr>
              <a:t>隐私与可信度</a:t>
            </a:r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1E2F049F-43C4-4B1E-9387-901603101255}"/>
              </a:ext>
            </a:extLst>
          </p:cNvPr>
          <p:cNvSpPr>
            <a:spLocks noGrp="1"/>
          </p:cNvSpPr>
          <p:nvPr/>
        </p:nvSpPr>
        <p:spPr>
          <a:xfrm>
            <a:off x="2400300" y="5924550"/>
            <a:ext cx="88773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425" b="0" i="0">
                <a:solidFill>
                  <a:srgbClr val="201F1D"/>
                </a:solidFill>
                <a:latin typeface="Noto Serif SC"/>
                <a:ea typeface="Noto Serif SC"/>
                <a:cs typeface="Noto Serif SC"/>
              </a:defRPr>
            </a:pPr>
            <a:r>
              <a:rPr sz="1425" b="0" i="0">
                <a:solidFill>
                  <a:srgbClr val="201F1D"/>
                </a:solidFill>
                <a:latin typeface="Noto Serif SC"/>
                <a:ea typeface="Noto Serif SC"/>
                <a:cs typeface="Noto Serif SC"/>
              </a:rPr>
              <a:t>外部调用前脱敏；保存来源与证据片段；没有真实申请结果时不声称效果提升。</a:t>
            </a:r>
          </a:p>
        </p:txBody>
      </p:sp>
    </p:spTree>
    <p:extLst>
      <p:ext uri="{BB962C8B-B14F-4D97-AF65-F5344CB8AC3E}">
        <p14:creationId xmlns:p14="http://schemas.microsoft.com/office/powerpoint/2010/main" val="77665762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矩形 26">
            <a:extLst>
              <a:ext uri="{FF2B5EF4-FFF2-40B4-BE49-F238E27FC236}">
                <a16:creationId xmlns:a16="http://schemas.microsoft.com/office/drawing/2014/main" id="{7D1A0C97-B4D1-4BB2-A8EE-058FD3767B7D}"/>
              </a:ext>
            </a:extLst>
          </p:cNvPr>
          <p:cNvSpPr>
            <a:spLocks noGrp="1"/>
          </p:cNvSpPr>
          <p:nvPr/>
        </p:nvSpPr>
        <p:spPr>
          <a:xfrm>
            <a:off x="533400" y="304800"/>
            <a:ext cx="1714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575" b="1" i="0">
                <a:solidFill>
                  <a:srgbClr val="201F1D"/>
                </a:solidFill>
                <a:latin typeface="Georgia"/>
                <a:ea typeface="Georgia"/>
                <a:cs typeface="Georgia"/>
              </a:defRPr>
            </a:pPr>
            <a:r>
              <a:rPr sz="1575" b="1" i="0">
                <a:solidFill>
                  <a:srgbClr val="201F1D"/>
                </a:solidFill>
                <a:latin typeface="Georgia"/>
                <a:ea typeface="Georgia"/>
                <a:cs typeface="Georgia"/>
              </a:rPr>
              <a:t>CareerPilot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69BFF8BC-7CBA-4EEC-8774-B4516B9A6708}"/>
              </a:ext>
            </a:extLst>
          </p:cNvPr>
          <p:cNvSpPr>
            <a:spLocks noGrp="1"/>
          </p:cNvSpPr>
          <p:nvPr/>
        </p:nvSpPr>
        <p:spPr>
          <a:xfrm>
            <a:off x="9525000" y="323850"/>
            <a:ext cx="21336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defRPr sz="975" b="0" i="0">
                <a:solidFill>
                  <a:srgbClr val="7D5411"/>
                </a:solidFill>
                <a:latin typeface="Georgia"/>
                <a:ea typeface="Georgia"/>
                <a:cs typeface="Georgia"/>
              </a:defRPr>
            </a:pPr>
            <a:r>
              <a:rPr sz="975" b="0" i="0">
                <a:solidFill>
                  <a:srgbClr val="7D5411"/>
                </a:solidFill>
                <a:latin typeface="Georgia"/>
                <a:ea typeface="Georgia"/>
                <a:cs typeface="Georgia"/>
              </a:rPr>
              <a:t>EXPECTED OUTCOME</a:t>
            </a:r>
          </a:p>
        </p:txBody>
      </p:sp>
      <p:sp>
        <p:nvSpPr>
          <p:cNvPr id="3" name="直接连接符 2">
            <a:extLst>
              <a:ext uri="{FF2B5EF4-FFF2-40B4-BE49-F238E27FC236}">
                <a16:creationId xmlns:a16="http://schemas.microsoft.com/office/drawing/2014/main" id="{5EA6F8B1-EB1F-41E3-82F6-7892C3C81F52}"/>
              </a:ext>
            </a:extLst>
          </p:cNvPr>
          <p:cNvSpPr>
            <a:spLocks noGrp="1"/>
          </p:cNvSpPr>
          <p:nvPr/>
        </p:nvSpPr>
        <p:spPr>
          <a:xfrm>
            <a:off x="533400" y="704850"/>
            <a:ext cx="11125200" cy="0"/>
          </a:xfrm>
          <a:prstGeom prst="line">
            <a:avLst/>
          </a:prstGeom>
          <a:noFill/>
          <a:ln w="9525">
            <a:solidFill>
              <a:srgbClr val="C9C5C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816E6A80-CD78-4780-8DF2-D0590748F463}"/>
              </a:ext>
            </a:extLst>
          </p:cNvPr>
          <p:cNvSpPr>
            <a:spLocks noGrp="1"/>
          </p:cNvSpPr>
          <p:nvPr/>
        </p:nvSpPr>
        <p:spPr>
          <a:xfrm>
            <a:off x="533400" y="1066800"/>
            <a:ext cx="28575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2550" b="1" i="0">
                <a:solidFill>
                  <a:srgbClr val="7D5411"/>
                </a:solidFill>
                <a:latin typeface="Noto Serif SC"/>
                <a:ea typeface="Noto Serif SC"/>
                <a:cs typeface="Noto Serif SC"/>
              </a:defRPr>
            </a:pPr>
            <a:r>
              <a:rPr sz="2550" b="1" i="0">
                <a:solidFill>
                  <a:srgbClr val="7D5411"/>
                </a:solidFill>
                <a:latin typeface="Noto Serif SC"/>
                <a:ea typeface="Noto Serif SC"/>
                <a:cs typeface="Noto Serif SC"/>
              </a:rPr>
              <a:t>预期交付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5FCCEF63-0377-4C99-B2BB-B4405D118633}"/>
              </a:ext>
            </a:extLst>
          </p:cNvPr>
          <p:cNvSpPr>
            <a:spLocks noGrp="1"/>
          </p:cNvSpPr>
          <p:nvPr/>
        </p:nvSpPr>
        <p:spPr>
          <a:xfrm>
            <a:off x="533400" y="1638300"/>
            <a:ext cx="7239000" cy="1428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4350" b="0" i="0">
                <a:solidFill>
                  <a:srgbClr val="201F1D"/>
                </a:solidFill>
                <a:latin typeface="Noto Serif SC"/>
                <a:ea typeface="Noto Serif SC"/>
                <a:cs typeface="Noto Serif SC"/>
              </a:defRPr>
            </a:pPr>
            <a:r>
              <a:rPr sz="4350" b="0" i="0">
                <a:solidFill>
                  <a:srgbClr val="201F1D"/>
                </a:solidFill>
                <a:latin typeface="Noto Serif SC"/>
                <a:ea typeface="Noto Serif SC"/>
                <a:cs typeface="Noto Serif SC"/>
              </a:rPr>
              <a:t>一条可演示、可解释、</a:t>
            </a:r>
          </a:p>
          <a:p>
            <a:pPr algn="l">
              <a:defRPr sz="4350" b="0" i="0">
                <a:solidFill>
                  <a:srgbClr val="201F1D"/>
                </a:solidFill>
                <a:latin typeface="Noto Serif SC"/>
                <a:ea typeface="Noto Serif SC"/>
                <a:cs typeface="Noto Serif SC"/>
              </a:defRPr>
            </a:pPr>
            <a:r>
              <a:rPr sz="4350" b="0" i="0">
                <a:solidFill>
                  <a:srgbClr val="201F1D"/>
                </a:solidFill>
                <a:latin typeface="Noto Serif SC"/>
                <a:ea typeface="Noto Serif SC"/>
                <a:cs typeface="Noto Serif SC"/>
              </a:rPr>
              <a:t>可审阅的学生求职闭环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F5875801-6B12-4A18-8745-5BA3ECEC0B8E}"/>
              </a:ext>
            </a:extLst>
          </p:cNvPr>
          <p:cNvSpPr>
            <a:spLocks noGrp="1"/>
          </p:cNvSpPr>
          <p:nvPr/>
        </p:nvSpPr>
        <p:spPr>
          <a:xfrm>
            <a:off x="8667750" y="1143000"/>
            <a:ext cx="2990850" cy="1962150"/>
          </a:xfrm>
          <a:prstGeom prst="rect">
            <a:avLst/>
          </a:prstGeom>
          <a:solidFill>
            <a:srgbClr val="C0492F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CC895074-D3F5-4371-A0A2-975EE6DB4867}"/>
              </a:ext>
            </a:extLst>
          </p:cNvPr>
          <p:cNvSpPr>
            <a:spLocks noGrp="1"/>
          </p:cNvSpPr>
          <p:nvPr/>
        </p:nvSpPr>
        <p:spPr>
          <a:xfrm>
            <a:off x="9010650" y="1562100"/>
            <a:ext cx="2305050" cy="819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4800" b="0" i="0">
                <a:solidFill>
                  <a:srgbClr val="FFF3E4"/>
                </a:solidFill>
                <a:latin typeface="Georgia"/>
                <a:ea typeface="Georgia"/>
                <a:cs typeface="Georgia"/>
              </a:defRPr>
            </a:pPr>
            <a:r>
              <a:rPr sz="4800" b="0" i="0">
                <a:solidFill>
                  <a:srgbClr val="FFF3E4"/>
                </a:solidFill>
                <a:latin typeface="Georgia"/>
                <a:ea typeface="Georgia"/>
                <a:cs typeface="Georgia"/>
              </a:rPr>
              <a:t>Q&amp;A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9312F770-6794-41D2-9B12-0D6AF88D1C74}"/>
              </a:ext>
            </a:extLst>
          </p:cNvPr>
          <p:cNvSpPr>
            <a:spLocks noGrp="1"/>
          </p:cNvSpPr>
          <p:nvPr/>
        </p:nvSpPr>
        <p:spPr>
          <a:xfrm>
            <a:off x="9010650" y="2476500"/>
            <a:ext cx="23050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500" b="0" i="0">
                <a:solidFill>
                  <a:srgbClr val="FFF3E4"/>
                </a:solidFill>
                <a:latin typeface="Noto Serif SC"/>
                <a:ea typeface="Noto Serif SC"/>
                <a:cs typeface="Noto Serif SC"/>
              </a:defRPr>
            </a:pPr>
            <a:r>
              <a:rPr sz="1500" b="0" i="0">
                <a:solidFill>
                  <a:srgbClr val="FFF3E4"/>
                </a:solidFill>
                <a:latin typeface="Noto Serif SC"/>
                <a:ea typeface="Noto Serif SC"/>
                <a:cs typeface="Noto Serif SC"/>
              </a:rPr>
              <a:t>谢谢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4C2D3A4F-D5FB-4105-96D6-07045509F6A5}"/>
              </a:ext>
            </a:extLst>
          </p:cNvPr>
          <p:cNvSpPr>
            <a:spLocks noGrp="1"/>
          </p:cNvSpPr>
          <p:nvPr/>
        </p:nvSpPr>
        <p:spPr>
          <a:xfrm>
            <a:off x="533400" y="3771900"/>
            <a:ext cx="7620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2325" b="0" i="0">
                <a:solidFill>
                  <a:srgbClr val="B68235"/>
                </a:solidFill>
                <a:latin typeface="Georgia"/>
                <a:ea typeface="Georgia"/>
                <a:cs typeface="Georgia"/>
              </a:defRPr>
            </a:pPr>
            <a:r>
              <a:rPr sz="2325" b="0" i="0">
                <a:solidFill>
                  <a:srgbClr val="B68235"/>
                </a:solidFill>
                <a:latin typeface="Georgia"/>
                <a:ea typeface="Georgia"/>
                <a:cs typeface="Georgia"/>
              </a:rPr>
              <a:t>01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5C5B0A19-4909-410F-987A-BC6C8BF0A5E0}"/>
              </a:ext>
            </a:extLst>
          </p:cNvPr>
          <p:cNvSpPr>
            <a:spLocks noGrp="1"/>
          </p:cNvSpPr>
          <p:nvPr/>
        </p:nvSpPr>
        <p:spPr>
          <a:xfrm>
            <a:off x="533400" y="4267200"/>
            <a:ext cx="23812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875" b="1" i="0">
                <a:solidFill>
                  <a:srgbClr val="201F1D"/>
                </a:solidFill>
                <a:latin typeface="Noto Serif SC"/>
                <a:ea typeface="Noto Serif SC"/>
                <a:cs typeface="Noto Serif SC"/>
              </a:defRPr>
            </a:pPr>
            <a:r>
              <a:rPr sz="1875" b="1" i="0">
                <a:solidFill>
                  <a:srgbClr val="201F1D"/>
                </a:solidFill>
                <a:latin typeface="Noto Serif SC"/>
                <a:ea typeface="Noto Serif SC"/>
                <a:cs typeface="Noto Serif SC"/>
              </a:rPr>
              <a:t>推荐</a:t>
            </a:r>
          </a:p>
        </p:txBody>
      </p:sp>
      <p:sp>
        <p:nvSpPr>
          <p:cNvPr id="11" name="直接连接符 10">
            <a:extLst>
              <a:ext uri="{FF2B5EF4-FFF2-40B4-BE49-F238E27FC236}">
                <a16:creationId xmlns:a16="http://schemas.microsoft.com/office/drawing/2014/main" id="{FB5F9282-D5A7-4D1A-9764-47701DF4FA26}"/>
              </a:ext>
            </a:extLst>
          </p:cNvPr>
          <p:cNvSpPr>
            <a:spLocks noGrp="1"/>
          </p:cNvSpPr>
          <p:nvPr/>
        </p:nvSpPr>
        <p:spPr>
          <a:xfrm>
            <a:off x="533400" y="4762500"/>
            <a:ext cx="2381250" cy="0"/>
          </a:xfrm>
          <a:prstGeom prst="line">
            <a:avLst/>
          </a:prstGeom>
          <a:noFill/>
          <a:ln w="9525">
            <a:solidFill>
              <a:srgbClr val="C9C5C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86C85BC4-C9E3-45E1-ABD0-F2087BD02ABC}"/>
              </a:ext>
            </a:extLst>
          </p:cNvPr>
          <p:cNvSpPr>
            <a:spLocks noGrp="1"/>
          </p:cNvSpPr>
          <p:nvPr/>
        </p:nvSpPr>
        <p:spPr>
          <a:xfrm>
            <a:off x="533400" y="4953000"/>
            <a:ext cx="238125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275" b="0" i="0">
                <a:solidFill>
                  <a:srgbClr val="666160"/>
                </a:solidFill>
                <a:latin typeface="Noto Serif SC"/>
                <a:ea typeface="Noto Serif SC"/>
                <a:cs typeface="Noto Serif SC"/>
              </a:defRPr>
            </a:pPr>
            <a:r>
              <a:rPr sz="1275" b="0" i="0">
                <a:solidFill>
                  <a:srgbClr val="666160"/>
                </a:solidFill>
                <a:latin typeface="Noto Serif SC"/>
                <a:ea typeface="Noto Serif SC"/>
                <a:cs typeface="Noto Serif SC"/>
              </a:rPr>
              <a:t>岗位排序与可追踪的匹配依据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6CE37B09-6C74-4F34-9E03-753074B6BC5D}"/>
              </a:ext>
            </a:extLst>
          </p:cNvPr>
          <p:cNvSpPr>
            <a:spLocks noGrp="1"/>
          </p:cNvSpPr>
          <p:nvPr/>
        </p:nvSpPr>
        <p:spPr>
          <a:xfrm>
            <a:off x="3314700" y="3771900"/>
            <a:ext cx="7620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2325" b="0" i="0">
                <a:solidFill>
                  <a:srgbClr val="C0492F"/>
                </a:solidFill>
                <a:latin typeface="Georgia"/>
                <a:ea typeface="Georgia"/>
                <a:cs typeface="Georgia"/>
              </a:defRPr>
            </a:pPr>
            <a:r>
              <a:rPr sz="2325" b="0" i="0">
                <a:solidFill>
                  <a:srgbClr val="C0492F"/>
                </a:solidFill>
                <a:latin typeface="Georgia"/>
                <a:ea typeface="Georgia"/>
                <a:cs typeface="Georgia"/>
              </a:rPr>
              <a:t>02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3B0EC469-AADB-4F62-9715-E0C95A9A236A}"/>
              </a:ext>
            </a:extLst>
          </p:cNvPr>
          <p:cNvSpPr>
            <a:spLocks noGrp="1"/>
          </p:cNvSpPr>
          <p:nvPr/>
        </p:nvSpPr>
        <p:spPr>
          <a:xfrm>
            <a:off x="3314700" y="4267200"/>
            <a:ext cx="23812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875" b="1" i="0">
                <a:solidFill>
                  <a:srgbClr val="201F1D"/>
                </a:solidFill>
                <a:latin typeface="Noto Serif SC"/>
                <a:ea typeface="Noto Serif SC"/>
                <a:cs typeface="Noto Serif SC"/>
              </a:defRPr>
            </a:pPr>
            <a:r>
              <a:rPr sz="1875" b="1" i="0">
                <a:solidFill>
                  <a:srgbClr val="201F1D"/>
                </a:solidFill>
                <a:latin typeface="Noto Serif SC"/>
                <a:ea typeface="Noto Serif SC"/>
                <a:cs typeface="Noto Serif SC"/>
              </a:rPr>
              <a:t>材料</a:t>
            </a:r>
          </a:p>
        </p:txBody>
      </p:sp>
      <p:sp>
        <p:nvSpPr>
          <p:cNvPr id="15" name="直接连接符 14">
            <a:extLst>
              <a:ext uri="{FF2B5EF4-FFF2-40B4-BE49-F238E27FC236}">
                <a16:creationId xmlns:a16="http://schemas.microsoft.com/office/drawing/2014/main" id="{EBFA41D7-13D4-409C-BB6D-E1D19E5D8E06}"/>
              </a:ext>
            </a:extLst>
          </p:cNvPr>
          <p:cNvSpPr>
            <a:spLocks noGrp="1"/>
          </p:cNvSpPr>
          <p:nvPr/>
        </p:nvSpPr>
        <p:spPr>
          <a:xfrm>
            <a:off x="3314700" y="4762500"/>
            <a:ext cx="2381250" cy="0"/>
          </a:xfrm>
          <a:prstGeom prst="line">
            <a:avLst/>
          </a:prstGeom>
          <a:noFill/>
          <a:ln w="9525">
            <a:solidFill>
              <a:srgbClr val="C9C5C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CAAD08E0-609D-4DCE-9B7F-29DF99B222F0}"/>
              </a:ext>
            </a:extLst>
          </p:cNvPr>
          <p:cNvSpPr>
            <a:spLocks noGrp="1"/>
          </p:cNvSpPr>
          <p:nvPr/>
        </p:nvSpPr>
        <p:spPr>
          <a:xfrm>
            <a:off x="3314700" y="4953000"/>
            <a:ext cx="238125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275" b="0" i="0">
                <a:solidFill>
                  <a:srgbClr val="666160"/>
                </a:solidFill>
                <a:latin typeface="Noto Serif SC"/>
                <a:ea typeface="Noto Serif SC"/>
                <a:cs typeface="Noto Serif SC"/>
              </a:defRPr>
            </a:pPr>
            <a:r>
              <a:rPr sz="1275" b="0" i="0">
                <a:solidFill>
                  <a:srgbClr val="666160"/>
                </a:solidFill>
                <a:latin typeface="Noto Serif SC"/>
                <a:ea typeface="Noto Serif SC"/>
                <a:cs typeface="Noto Serif SC"/>
              </a:rPr>
              <a:t>围绕目标 JD 的事实一致改写建议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A1FC326F-65D1-4869-9739-2DBCA9924698}"/>
              </a:ext>
            </a:extLst>
          </p:cNvPr>
          <p:cNvSpPr>
            <a:spLocks noGrp="1"/>
          </p:cNvSpPr>
          <p:nvPr/>
        </p:nvSpPr>
        <p:spPr>
          <a:xfrm>
            <a:off x="6096000" y="3771900"/>
            <a:ext cx="7620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2325" b="0" i="0">
                <a:solidFill>
                  <a:srgbClr val="B68235"/>
                </a:solidFill>
                <a:latin typeface="Georgia"/>
                <a:ea typeface="Georgia"/>
                <a:cs typeface="Georgia"/>
              </a:defRPr>
            </a:pPr>
            <a:r>
              <a:rPr sz="2325" b="0" i="0">
                <a:solidFill>
                  <a:srgbClr val="B68235"/>
                </a:solidFill>
                <a:latin typeface="Georgia"/>
                <a:ea typeface="Georgia"/>
                <a:cs typeface="Georgia"/>
              </a:rPr>
              <a:t>03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A4F3F650-662D-474A-977E-A0467FDAA257}"/>
              </a:ext>
            </a:extLst>
          </p:cNvPr>
          <p:cNvSpPr>
            <a:spLocks noGrp="1"/>
          </p:cNvSpPr>
          <p:nvPr/>
        </p:nvSpPr>
        <p:spPr>
          <a:xfrm>
            <a:off x="6096000" y="4267200"/>
            <a:ext cx="23812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875" b="1" i="0">
                <a:solidFill>
                  <a:srgbClr val="201F1D"/>
                </a:solidFill>
                <a:latin typeface="Noto Serif SC"/>
                <a:ea typeface="Noto Serif SC"/>
                <a:cs typeface="Noto Serif SC"/>
              </a:defRPr>
            </a:pPr>
            <a:r>
              <a:rPr sz="1875" b="1" i="0">
                <a:solidFill>
                  <a:srgbClr val="201F1D"/>
                </a:solidFill>
                <a:latin typeface="Noto Serif SC"/>
                <a:ea typeface="Noto Serif SC"/>
                <a:cs typeface="Noto Serif SC"/>
              </a:rPr>
              <a:t>准备</a:t>
            </a:r>
          </a:p>
        </p:txBody>
      </p:sp>
      <p:sp>
        <p:nvSpPr>
          <p:cNvPr id="19" name="直接连接符 18">
            <a:extLst>
              <a:ext uri="{FF2B5EF4-FFF2-40B4-BE49-F238E27FC236}">
                <a16:creationId xmlns:a16="http://schemas.microsoft.com/office/drawing/2014/main" id="{9292D08A-04FF-4CD6-9975-DFA1B79DA7ED}"/>
              </a:ext>
            </a:extLst>
          </p:cNvPr>
          <p:cNvSpPr>
            <a:spLocks noGrp="1"/>
          </p:cNvSpPr>
          <p:nvPr/>
        </p:nvSpPr>
        <p:spPr>
          <a:xfrm>
            <a:off x="6096000" y="4762500"/>
            <a:ext cx="2381250" cy="0"/>
          </a:xfrm>
          <a:prstGeom prst="line">
            <a:avLst/>
          </a:prstGeom>
          <a:noFill/>
          <a:ln w="9525">
            <a:solidFill>
              <a:srgbClr val="C9C5C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A49ECF98-D0C5-4A20-9D76-6FC511F32290}"/>
              </a:ext>
            </a:extLst>
          </p:cNvPr>
          <p:cNvSpPr>
            <a:spLocks noGrp="1"/>
          </p:cNvSpPr>
          <p:nvPr/>
        </p:nvSpPr>
        <p:spPr>
          <a:xfrm>
            <a:off x="6096000" y="4953000"/>
            <a:ext cx="238125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275" b="0" i="0">
                <a:solidFill>
                  <a:srgbClr val="666160"/>
                </a:solidFill>
                <a:latin typeface="Noto Serif SC"/>
                <a:ea typeface="Noto Serif SC"/>
                <a:cs typeface="Noto Serif SC"/>
              </a:defRPr>
            </a:pPr>
            <a:r>
              <a:rPr sz="1275" b="0" i="0">
                <a:solidFill>
                  <a:srgbClr val="666160"/>
                </a:solidFill>
                <a:latin typeface="Noto Serif SC"/>
                <a:ea typeface="Noto Serif SC"/>
                <a:cs typeface="Noto Serif SC"/>
              </a:rPr>
              <a:t>岗位相关题库、反馈与进度提示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64F4E617-FA10-4362-A552-45082F67A4D4}"/>
              </a:ext>
            </a:extLst>
          </p:cNvPr>
          <p:cNvSpPr>
            <a:spLocks noGrp="1"/>
          </p:cNvSpPr>
          <p:nvPr/>
        </p:nvSpPr>
        <p:spPr>
          <a:xfrm>
            <a:off x="8877300" y="3771900"/>
            <a:ext cx="7620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2325" b="0" i="0">
                <a:solidFill>
                  <a:srgbClr val="B68235"/>
                </a:solidFill>
                <a:latin typeface="Georgia"/>
                <a:ea typeface="Georgia"/>
                <a:cs typeface="Georgia"/>
              </a:defRPr>
            </a:pPr>
            <a:r>
              <a:rPr sz="2325" b="0" i="0">
                <a:solidFill>
                  <a:srgbClr val="B68235"/>
                </a:solidFill>
                <a:latin typeface="Georgia"/>
                <a:ea typeface="Georgia"/>
                <a:cs typeface="Georgia"/>
              </a:rPr>
              <a:t>04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68772BE8-6B96-47B0-AA3D-2CE0E2987886}"/>
              </a:ext>
            </a:extLst>
          </p:cNvPr>
          <p:cNvSpPr>
            <a:spLocks noGrp="1"/>
          </p:cNvSpPr>
          <p:nvPr/>
        </p:nvSpPr>
        <p:spPr>
          <a:xfrm>
            <a:off x="8877300" y="4267200"/>
            <a:ext cx="23812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875" b="1" i="0">
                <a:solidFill>
                  <a:srgbClr val="201F1D"/>
                </a:solidFill>
                <a:latin typeface="Noto Serif SC"/>
                <a:ea typeface="Noto Serif SC"/>
                <a:cs typeface="Noto Serif SC"/>
              </a:defRPr>
            </a:pPr>
            <a:r>
              <a:rPr sz="1875" b="1" i="0">
                <a:solidFill>
                  <a:srgbClr val="201F1D"/>
                </a:solidFill>
                <a:latin typeface="Noto Serif SC"/>
                <a:ea typeface="Noto Serif SC"/>
                <a:cs typeface="Noto Serif SC"/>
              </a:rPr>
              <a:t>工程</a:t>
            </a:r>
          </a:p>
        </p:txBody>
      </p:sp>
      <p:sp>
        <p:nvSpPr>
          <p:cNvPr id="23" name="直接连接符 22">
            <a:extLst>
              <a:ext uri="{FF2B5EF4-FFF2-40B4-BE49-F238E27FC236}">
                <a16:creationId xmlns:a16="http://schemas.microsoft.com/office/drawing/2014/main" id="{6DD9E8C9-4510-47AD-8329-F345AE4F3CAC}"/>
              </a:ext>
            </a:extLst>
          </p:cNvPr>
          <p:cNvSpPr>
            <a:spLocks noGrp="1"/>
          </p:cNvSpPr>
          <p:nvPr/>
        </p:nvSpPr>
        <p:spPr>
          <a:xfrm>
            <a:off x="8877300" y="4762500"/>
            <a:ext cx="2381250" cy="0"/>
          </a:xfrm>
          <a:prstGeom prst="line">
            <a:avLst/>
          </a:prstGeom>
          <a:noFill/>
          <a:ln w="9525">
            <a:solidFill>
              <a:srgbClr val="C9C5C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600E56D0-C16A-4871-8F8F-648789D10D55}"/>
              </a:ext>
            </a:extLst>
          </p:cNvPr>
          <p:cNvSpPr>
            <a:spLocks noGrp="1"/>
          </p:cNvSpPr>
          <p:nvPr/>
        </p:nvSpPr>
        <p:spPr>
          <a:xfrm>
            <a:off x="8877300" y="4953000"/>
            <a:ext cx="238125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275" b="0" i="0">
                <a:solidFill>
                  <a:srgbClr val="666160"/>
                </a:solidFill>
                <a:latin typeface="Noto Serif SC"/>
                <a:ea typeface="Noto Serif SC"/>
                <a:cs typeface="Noto Serif SC"/>
              </a:defRPr>
            </a:pPr>
            <a:r>
              <a:rPr sz="1275" b="0" i="0">
                <a:solidFill>
                  <a:srgbClr val="666160"/>
                </a:solidFill>
                <a:latin typeface="Noto Serif SC"/>
                <a:ea typeface="Noto Serif SC"/>
                <a:cs typeface="Noto Serif SC"/>
              </a:rPr>
              <a:t>模块化原型、评估记录与项目仓库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20917900-A64D-4D8C-9FD5-DE79F82D4EB8}"/>
              </a:ext>
            </a:extLst>
          </p:cNvPr>
          <p:cNvSpPr>
            <a:spLocks noGrp="1"/>
          </p:cNvSpPr>
          <p:nvPr/>
        </p:nvSpPr>
        <p:spPr>
          <a:xfrm>
            <a:off x="533400" y="6153150"/>
            <a:ext cx="5715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425" b="0" i="1">
                <a:solidFill>
                  <a:srgbClr val="C0492F"/>
                </a:solidFill>
                <a:latin typeface="Noto Serif SC"/>
                <a:ea typeface="Noto Serif SC"/>
                <a:cs typeface="Noto Serif SC"/>
              </a:defRPr>
            </a:pPr>
            <a:r>
              <a:rPr sz="1425" b="0" i="1">
                <a:solidFill>
                  <a:srgbClr val="C0492F"/>
                </a:solidFill>
                <a:latin typeface="Noto Serif SC"/>
                <a:ea typeface="Noto Serif SC"/>
                <a:cs typeface="Noto Serif SC"/>
              </a:rPr>
              <a:t>系统提出建议，学生作出决定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BB513D0F-66E0-4D41-82B3-AA95696FAE49}"/>
              </a:ext>
            </a:extLst>
          </p:cNvPr>
          <p:cNvSpPr>
            <a:spLocks noGrp="1"/>
          </p:cNvSpPr>
          <p:nvPr/>
        </p:nvSpPr>
        <p:spPr>
          <a:xfrm>
            <a:off x="8362950" y="6191250"/>
            <a:ext cx="32956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defRPr sz="1050" b="0" i="0">
                <a:solidFill>
                  <a:srgbClr val="7D5411"/>
                </a:solidFill>
                <a:latin typeface="Georgia"/>
                <a:ea typeface="Georgia"/>
                <a:cs typeface="Georgia"/>
              </a:defRPr>
            </a:pPr>
            <a:r>
              <a:rPr sz="1050" b="0" i="0">
                <a:solidFill>
                  <a:srgbClr val="7D5411"/>
                </a:solidFill>
                <a:latin typeface="Georgia"/>
                <a:ea typeface="Georgia"/>
                <a:cs typeface="Georgia"/>
              </a:rPr>
              <a:t>NUS ISS · Practice Module · 2026</a:t>
            </a:r>
          </a:p>
        </p:txBody>
      </p:sp>
    </p:spTree>
    <p:extLst>
      <p:ext uri="{BB962C8B-B14F-4D97-AF65-F5344CB8AC3E}">
        <p14:creationId xmlns:p14="http://schemas.microsoft.com/office/powerpoint/2010/main" val="1968277103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28</TotalTime>
  <Words>645</Words>
  <Application>Microsoft Office PowerPoint</Application>
  <DocSecurity>0</DocSecurity>
  <PresentationFormat>宽屏</PresentationFormat>
  <Paragraphs>177</Paragraphs>
  <Slides>11</Slides>
  <Notes>11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15" baseType="lpstr">
      <vt:lpstr>Noto Serif SC</vt:lpstr>
      <vt:lpstr>Calibri</vt:lpstr>
      <vt:lpstr>Georgia</vt:lpstr>
      <vt:lpstr>ChatGPT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Sun Wenjing</cp:lastModifiedBy>
  <cp:revision>4</cp:revision>
  <dcterms:created xsi:type="dcterms:W3CDTF">2026-09-08T16:21:53Z</dcterms:created>
  <dcterms:modified xsi:type="dcterms:W3CDTF">2026-09-21T03:59:58Z</dcterms:modified>
</cp:coreProperties>
</file>