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48f6a5fd17944d0" /><Relationship Type="http://schemas.openxmlformats.org/officeDocument/2006/relationships/extended-properties" Target="/docProps/app.xml" Id="R16093d5d435747ec" /><Relationship Type="http://schemas.openxmlformats.org/officeDocument/2006/relationships/officeDocument" Target="/ppt/presentation.xml" Id="Rdf9197aa123b44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16e8c4d38848cf"/>
  </p:sldMasterIdLst>
  <p:notesMasterIdLst>
    <p:notesMasterId xmlns:r="http://schemas.openxmlformats.org/officeDocument/2006/relationships" r:id="Rea09afbd6742453b"/>
  </p:notesMasterIdLst>
  <p:sldIdLst>
    <p:sldId xmlns:r="http://schemas.openxmlformats.org/officeDocument/2006/relationships" id="256" r:id="R7bcf2ed34b2147d4"/>
    <p:sldId xmlns:r="http://schemas.openxmlformats.org/officeDocument/2006/relationships" id="257" r:id="R45f6228bb5454b21"/>
    <p:sldId xmlns:r="http://schemas.openxmlformats.org/officeDocument/2006/relationships" id="258" r:id="R3cdd16122fe94c86"/>
    <p:sldId xmlns:r="http://schemas.openxmlformats.org/officeDocument/2006/relationships" id="259" r:id="Rb16f4bba649e43b7"/>
    <p:sldId xmlns:r="http://schemas.openxmlformats.org/officeDocument/2006/relationships" id="260" r:id="Rf504c32e067f41dc"/>
    <p:sldId xmlns:r="http://schemas.openxmlformats.org/officeDocument/2006/relationships" id="261" r:id="Raf1563fb777c4028"/>
    <p:sldId xmlns:r="http://schemas.openxmlformats.org/officeDocument/2006/relationships" id="262" r:id="R6cd62768327e4636"/>
    <p:sldId xmlns:r="http://schemas.openxmlformats.org/officeDocument/2006/relationships" id="263" r:id="Rc311d4d9c0eb482d"/>
    <p:sldId xmlns:r="http://schemas.openxmlformats.org/officeDocument/2006/relationships" id="264" r:id="R95204d34193b49e5"/>
    <p:sldId xmlns:r="http://schemas.openxmlformats.org/officeDocument/2006/relationships" id="265" r:id="R6094909ba8824719"/>
    <p:sldId xmlns:r="http://schemas.openxmlformats.org/officeDocument/2006/relationships" id="266" r:id="Rde0bd0dec39c47a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2536fa437f4d4b" /><Relationship Type="http://schemas.openxmlformats.org/officeDocument/2006/relationships/slideMaster" Target="/ppt/slideMasters/slideMaster1.xml" Id="Rc916e8c4d38848cf" /><Relationship Type="http://schemas.openxmlformats.org/officeDocument/2006/relationships/notesMaster" Target="/ppt/notesMasters/notesMaster1.xml" Id="Rea09afbd6742453b" /><Relationship Type="http://schemas.openxmlformats.org/officeDocument/2006/relationships/presProps" Target="/ppt/presProps.xml" Id="Rf0dd91e425784fff" /><Relationship Type="http://schemas.openxmlformats.org/officeDocument/2006/relationships/tableStyles" Target="/ppt/tableStyles.xml" Id="Rae0e27bb5ddb40e3" /><Relationship Type="http://schemas.openxmlformats.org/officeDocument/2006/relationships/slide" Target="/ppt/slides/slide1.xml" Id="R7bcf2ed34b2147d4" /><Relationship Type="http://schemas.openxmlformats.org/officeDocument/2006/relationships/slide" Target="/ppt/slides/slide2.xml" Id="R45f6228bb5454b21" /><Relationship Type="http://schemas.openxmlformats.org/officeDocument/2006/relationships/slide" Target="/ppt/slides/slide3.xml" Id="R3cdd16122fe94c86" /><Relationship Type="http://schemas.openxmlformats.org/officeDocument/2006/relationships/slide" Target="/ppt/slides/slide4.xml" Id="Rb16f4bba649e43b7" /><Relationship Type="http://schemas.openxmlformats.org/officeDocument/2006/relationships/slide" Target="/ppt/slides/slide5.xml" Id="Rf504c32e067f41dc" /><Relationship Type="http://schemas.openxmlformats.org/officeDocument/2006/relationships/slide" Target="/ppt/slides/slide6.xml" Id="Raf1563fb777c4028" /><Relationship Type="http://schemas.openxmlformats.org/officeDocument/2006/relationships/slide" Target="/ppt/slides/slide7.xml" Id="R6cd62768327e4636" /><Relationship Type="http://schemas.openxmlformats.org/officeDocument/2006/relationships/slide" Target="/ppt/slides/slide8.xml" Id="Rc311d4d9c0eb482d" /><Relationship Type="http://schemas.openxmlformats.org/officeDocument/2006/relationships/slide" Target="/ppt/slides/slide9.xml" Id="R95204d34193b49e5" /><Relationship Type="http://schemas.openxmlformats.org/officeDocument/2006/relationships/slide" Target="/ppt/slides/slide10.xml" Id="R6094909ba8824719" /><Relationship Type="http://schemas.openxmlformats.org/officeDocument/2006/relationships/slide" Target="/ppt/slides/slide11.xml" Id="Rde0bd0dec39c47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b4e1e455ff44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bd536608fe43b2" /><Relationship Type="http://schemas.openxmlformats.org/officeDocument/2006/relationships/notesMaster" Target="/ppt/notesMasters/notesMaster1.xml" Id="R2dd0fc0d34b646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54673deeec4bdd" /><Relationship Type="http://schemas.openxmlformats.org/officeDocument/2006/relationships/notesMaster" Target="/ppt/notesMasters/notesMaster1.xml" Id="R281ea885a76240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a9235c8f9c40d3" /><Relationship Type="http://schemas.openxmlformats.org/officeDocument/2006/relationships/notesMaster" Target="/ppt/notesMasters/notesMaster1.xml" Id="R2ce8377a366e44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6205a41eb04f1a" /><Relationship Type="http://schemas.openxmlformats.org/officeDocument/2006/relationships/notesMaster" Target="/ppt/notesMasters/notesMaster1.xml" Id="Rf461cf4c370049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969f6b15b741c8" /><Relationship Type="http://schemas.openxmlformats.org/officeDocument/2006/relationships/notesMaster" Target="/ppt/notesMasters/notesMaster1.xml" Id="Rfe7335c7b21c458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05ae403a6646dc" /><Relationship Type="http://schemas.openxmlformats.org/officeDocument/2006/relationships/notesMaster" Target="/ppt/notesMasters/notesMaster1.xml" Id="R47a92330107d42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ac1c0812a542c4" /><Relationship Type="http://schemas.openxmlformats.org/officeDocument/2006/relationships/notesMaster" Target="/ppt/notesMasters/notesMaster1.xml" Id="Rc8e2c6348a164d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48bcfd089c423e" /><Relationship Type="http://schemas.openxmlformats.org/officeDocument/2006/relationships/notesMaster" Target="/ppt/notesMasters/notesMaster1.xml" Id="R14f925015b16432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0f2357f823497c" /><Relationship Type="http://schemas.openxmlformats.org/officeDocument/2006/relationships/notesMaster" Target="/ppt/notesMasters/notesMaster1.xml" Id="Ra750bb1ad4964d5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6410194f2d54aea" /><Relationship Type="http://schemas.openxmlformats.org/officeDocument/2006/relationships/notesMaster" Target="/ppt/notesMasters/notesMaster1.xml" Id="R23419730300a410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020e1ed7b384ba6" /><Relationship Type="http://schemas.openxmlformats.org/officeDocument/2006/relationships/notesMaster" Target="/ppt/notesMasters/notesMaster1.xml" Id="R46896a616be942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开场介绍项目名称和目标用户。强调 CareerPilot 面向正在申请 IT 实习和校招岗位的学生，帮助他们选择更合适的岗位，并围绕具体 JD 准备申请材料。展示右侧当前交互原型，说明本次汇报聚焦项目问题、解决方案、技术框架和实施计划。建议用时 45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从学生的实际申请流程切入。第一个问题是岗位信息分散，第二个问题是 IT 岗位要求复杂，第三个问题是通用简历缺乏针对性，最后是学生难以安排有限的准备时间。这四个断点彼此连接，单点工具只能解决其中一部分。建议用时 60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市场上的产品大致分为招聘平台、简历优化工具和自动申请工具。它们通常只覆盖岗位发现或关键词优化。CareerPilot 的区别在于把推荐解释、JD 定向简历优化、面试准备和进度建议连接起来，同时保留人工审阅和提交。建议用时 60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说明整个使用流程。学生上传简历并设置岗位意向，系统解析学生画像和岗位 JD，再进行推荐和解释。学生选择目标岗位后，系统生成简历修改建议和模拟面试内容。最后由学生审阅并提交。强调人在环设计，系统不会替学生执行不可逆的申请操作。建议用时 70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这一页展示四个核心能力如何围绕同一个目标 JD 工作。岗位推荐解决选择问题，推荐解释说明依据，简历优化帮助学生针对岗位表达真实经历，模拟面试和进度建议帮助学生继续准备。所有输出都依赖学生画像和岗位要求，而不是生成通用内容。建议用时 70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Proposal 阶段需要控制范围。项目包含岗位推荐、解释、JD 定向简历优化、模拟面试原型和基础进度建议。项目明确排除自动投递、结果保证、虚构经历和大规模商业网站抓取。首版聚焦英文 IT 岗位，避免过早扩展到差异很大的行业和高级职位。建议用时 60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架构分为五层。用户界面延续现有 React、TypeScript 或单文件 HTML 原型。FastAPI 负责连接前端与各个推理模块。推理层包含规则、语义匹配、知识图谱和受约束生成。数据层保存学生画像、岗位画像和证据片段。底层数据来自公开 JD、技能 ontology 和脱敏简历。建议用时 90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混合推理是项目的核心。规则引擎先处理不能妥协的资格条件。语义匹配比较学生经历与岗位职责。技能图谱解释技能之间的关系。LLM 负责生成解释、简历草稿和面试内容，但必须受学生事实约束。基础计划规则再结合截止日期和时间预算给出下一步行动。建议用时 90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项目使用公开岗位描述、ESCO 和 O*NET 技能信息、脱敏简历样本，以及公开面试材料。评估先以人工样例检查为主，分别检查抽取准确性、推荐合理性、技能差距解释、简历事实一致性和面试内容实用性。因为没有真实申请结果标签，本阶段不会宣称提升面试率。建议用时 75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实施按六个阶段推进。第一周完成数据流水线，第二周实现核心推理，第三周接入受约束生成，第四周完成前端和 API 集成，第五周集中评估，第六周完成视频、用户指南和最终提交。范围在生成阶段结束时冻结，避免后期继续增加功能。建议用时 75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总结预期成果。项目将交付带解释的岗位推荐、受事实约束的简历优化建议、模拟面试和进度提示原型，以及可复现的模块化工程实现。最后再次强调系统提供建议，学生保留最终决定权。进入答疑。建议用时 45 秒。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9c37b052b742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baa855f83e4e5b" /><Relationship Type="http://schemas.openxmlformats.org/officeDocument/2006/relationships/slideLayout" Target="/ppt/slideLayouts/slideLayout1.xml" Id="Rf011444b82c644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11444b82c644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04bc79b7643c0" /><Relationship Type="http://schemas.openxmlformats.org/officeDocument/2006/relationships/image" Target="/ppt/media/image.png" Id="R5b53d06710af46c2" /><Relationship Type="http://schemas.openxmlformats.org/officeDocument/2006/relationships/notesSlide" Target="/ppt/notesSlides/notesSlide1.xml" Id="Rfe3ab748a0ca45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001a8a7abe4ae9" /><Relationship Type="http://schemas.openxmlformats.org/officeDocument/2006/relationships/notesSlide" Target="/ppt/notesSlides/notesSlide2.xml" Id="Rb90d34f7d0ce4a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b2bae1b8c46ef" /><Relationship Type="http://schemas.openxmlformats.org/officeDocument/2006/relationships/notesSlide" Target="/ppt/notesSlides/notesSlide3.xml" Id="R21bbc0c99c0e4c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52a5a4f334cb2" /><Relationship Type="http://schemas.openxmlformats.org/officeDocument/2006/relationships/notesSlide" Target="/ppt/notesSlides/notesSlide4.xml" Id="R42fe57c28c1647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4e4d81f43428d" /><Relationship Type="http://schemas.openxmlformats.org/officeDocument/2006/relationships/notesSlide" Target="/ppt/notesSlides/notesSlide5.xml" Id="R11f437f475f440d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088c3efd749b4" /><Relationship Type="http://schemas.openxmlformats.org/officeDocument/2006/relationships/notesSlide" Target="/ppt/notesSlides/notesSlide6.xml" Id="R291ea58cb2004a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3b3db425b4a25" /><Relationship Type="http://schemas.openxmlformats.org/officeDocument/2006/relationships/notesSlide" Target="/ppt/notesSlides/notesSlide7.xml" Id="Rd3b04aed88e848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f72d3ebfe40dc" /><Relationship Type="http://schemas.openxmlformats.org/officeDocument/2006/relationships/notesSlide" Target="/ppt/notesSlides/notesSlide8.xml" Id="R2aba3e9afef640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00909887d342c7" /><Relationship Type="http://schemas.openxmlformats.org/officeDocument/2006/relationships/notesSlide" Target="/ppt/notesSlides/notesSlide9.xml" Id="R1ffa60a0ba954d0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bc21e7a6f4e74" /><Relationship Type="http://schemas.openxmlformats.org/officeDocument/2006/relationships/notesSlide" Target="/ppt/notesSlides/notesSlide10.xml" Id="R23986af6d8694c8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bcc9b5eba44bd" /><Relationship Type="http://schemas.openxmlformats.org/officeDocument/2006/relationships/notesSlide" Target="/ppt/notesSlides/notesSlide11.xml" Id="R2b4cc42dca7f43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C91425-E908-4E40-8917-D80B1A88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72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76BC0-2FE6-4891-BDA3-EDF3662E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19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1050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IT 求职推理系统 · PROJECT PROPOSAL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84780-0DD2-4563-9B69-537A095A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21FB6-4696-486C-A239-2A21A3BE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1050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NUS ISS · PRACTICE MODULE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CF03C-3FCA-4B64-83B2-0FA149EC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5619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0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540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让每一次申请</a:t>
            </a:r>
          </a:p>
          <a:p xmlns:a="http://schemas.openxmlformats.org/drawingml/2006/main">
            <a:pPr algn="l">
              <a:defRPr sz="540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540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更有根据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DD8703-CAB0-41A9-92C7-19EE92B5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71900"/>
            <a:ext cx="5238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 i="1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2025" b="0" i="1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面向 IT 学生实习与毕业求职的</a:t>
            </a:r>
          </a:p>
          <a:p xmlns:a="http://schemas.openxmlformats.org/drawingml/2006/main">
            <a:pPr algn="l">
              <a:defRPr sz="2025" b="0" i="1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2025" b="0" i="1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可解释混合推理系统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A32F82-6AC8-460D-9E23-4EE1523B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43450"/>
            <a:ext cx="781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2F886A-EB99-4F88-AF57-DA1E206B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91100"/>
            <a:ext cx="4095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岗位发现与匹配</a:t>
            </a:r>
          </a:p>
          <a:p xmlns:a="http://schemas.openxmlformats.org/drawingml/2006/main">
            <a:pPr algn="l">
              <a:def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基于目标 JD 的简历优化</a:t>
            </a:r>
          </a:p>
          <a:p xmlns:a="http://schemas.openxmlformats.org/drawingml/2006/main">
            <a:pPr algn="l">
              <a:def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模拟面试与申请进度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B3D277-1762-46A9-A5D0-DC63B72C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619250"/>
            <a:ext cx="4762500" cy="3076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9E9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3d06710af46c2"/>
          <a:stretch xmlns:a="http://schemas.openxmlformats.org/drawingml/2006/main"/>
        </p:blipFill>
        <p:spPr>
          <a:xfrm xmlns:a="http://schemas.openxmlformats.org/drawingml/2006/main">
            <a:off x="7029450" y="1752600"/>
            <a:ext cx="4495800" cy="280987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A9AFAD-F8AA-47B7-B6F8-807657AF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0101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当前交互原型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C180F-8584-4220-81CB-5B44EF21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530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岗位推荐 · 简历改写 · 模拟面试 · 目标岗位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748D28-FD9A-4C69-87F8-4BE38C16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61531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F6B9F8-271D-481B-B18C-505E83F47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293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050" b="0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Group [待填写]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2384FB-907E-4C3E-8EED-0063F68D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29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1050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10–15 MINUTES</a:t>
            </a:r>
          </a:p>
        </p:txBody>
      </p:sp>
    </p:spTree>
    <p:extLst>
      <p:ext uri="{BB962C8B-B14F-4D97-AF65-F5344CB8AC3E}">
        <p14:creationId xmlns:p14="http://schemas.microsoft.com/office/powerpoint/2010/main" val="17592659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60B55B6-414B-4B78-9839-6C9C2F08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8E1ED0-9EA7-4916-AFD9-22D55A3B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6FD74D-EE7D-4B33-A214-52DB0FEF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A5C48-8C45-498D-8390-26FF2E26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学生求职流程中的四个断点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6E8485-E374-4466-AB64-786F4E7F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05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1E58A5-875F-4B3F-A018-5DC929CE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通用简历与分散信息让学生难以判断哪些岗位值得投入时间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BAD786-9A7B-408B-94D9-679B992E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1042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C5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CA1B44-3B19-4CB6-B051-55F61ADA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90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28575">
            <a:solidFill>
              <a:srgbClr val="B682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776367-B172-4E93-BAA6-7F21D498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765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89716-E149-493A-9A6B-CA5AD106F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21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发现岗位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3D15CA-3192-438A-BFCA-10A02BC7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05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6BDE6A-1DE5-4303-AF21-601090856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1924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信息分散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69EF81-7961-46C0-99CE-02114E0D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386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岗位来源多，筛选成本高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6AD478-36FC-43B0-92A1-91036965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67050"/>
            <a:ext cx="0" cy="2095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6DB83A-825F-4A8C-91B9-7E6D5C11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90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28575">
            <a:solidFill>
              <a:srgbClr val="B682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8D1652-557C-4029-8482-D3F3DC7D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765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C0DBBC-6AE4-4F2B-83EE-70CBDEA3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4766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21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判断匹配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C0602C-FEC9-4A35-AEBC-46926C75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105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66D632-AF7A-4D44-8B2A-22CA2936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57650"/>
            <a:ext cx="1924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要求难读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3E6FB7-6D7A-4127-A945-F3F18786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386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技术栈与职责之间关系不清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29E02B-DE9D-4D99-8AD0-3CCDFB47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67050"/>
            <a:ext cx="0" cy="2095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C6C9A3-E73B-4F72-80FD-E8378AE0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390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28575">
            <a:solidFill>
              <a:srgbClr val="C0492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340A95-E339-46DF-9E88-6BE81265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765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ABEDF2-F79F-4E18-90A4-599F66F0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766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21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准备材料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28B2DA-3876-4085-A2AF-CA4B8E0D4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05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948510-F603-48C0-94C3-66C5F004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57650"/>
            <a:ext cx="1924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缺少针对性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F2258A-3E94-4939-BCA9-AA2C33A5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同一份简历覆盖不同岗位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23166-27F7-43EC-B5CB-DFAB00C4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67050"/>
            <a:ext cx="0" cy="2095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9E7D1E-B565-4550-9926-0BA4DC1FB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390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28575">
            <a:solidFill>
              <a:srgbClr val="B6823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8DE03A-74D1-45C3-86B9-8CA087F7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76550"/>
            <a:ext cx="85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2850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00196A-ABD8-4B77-8C0E-4D7B9FD7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766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21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推进申请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3A478FC-3895-4254-8BF3-2696C48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1052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E67A65-17A4-421C-878C-14E22841C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057650"/>
            <a:ext cx="1924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优先级模糊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594C98-5C98-4CB4-9084-C95B7A64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386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时间有限，下一步行动不明确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2AEF8B-F6BB-4D0A-A0B2-CDC52496C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19750"/>
            <a:ext cx="742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结果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EB25B5-0F72-4C4A-BFC6-C983DFF7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60070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学生可能投入大量时间，却仍无法解释岗位选择，也无法针对目标 JD 展示最相关的经历。</a:t>
            </a:r>
          </a:p>
        </p:txBody>
      </p:sp>
    </p:spTree>
    <p:extLst>
      <p:ext uri="{BB962C8B-B14F-4D97-AF65-F5344CB8AC3E}">
        <p14:creationId xmlns:p14="http://schemas.microsoft.com/office/powerpoint/2010/main" val="12321341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3387E2-2468-40EE-8559-EC14371B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847AD-4E95-4319-AC64-05BC43BB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MARKET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03420-606E-4D6E-9A9D-C6BC9023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5C5B94-D490-423E-930A-7763BF39B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现有工具覆盖局部环节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E5E922-65A6-4786-A2B3-95A3DB41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05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67101E-7863-446E-A3B5-45958E45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招聘平台、简历工具与自动申请工具各自解决一个问题，但缺少面向学生的可解释闭环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157092-3AFD-45B6-93CC-54E0011C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002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岗位发现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9BB22-36E6-431F-9E62-8BF3E9BE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002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匹配解释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240E93-1324-4F09-BEC5-A6B1DAF3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0002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JD 简历优化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C8CFAC-F4E5-49FF-A28F-46295B85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002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面试准备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7B59D1-B68F-4A7D-A533-B391A614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0002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进度建议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0357E-F809-4CEF-A459-D51CC4F0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招聘平台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6A06D8-60BF-45AC-9D92-18AFAA47C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381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56A49C-D415-48A7-8B35-13366254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381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C20A14-185A-43FC-B55C-1342E59FB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2381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64FA3-64B5-49AC-B36A-9E8D41C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381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7D2885-C422-482B-9A84-8B2C2BD0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381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281CB6-087C-421D-8BDF-FB08D6C5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765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E66DBE-29D7-462C-BE8D-613D32D0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简历优化工具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EC31DC-EABB-4178-94B7-65635D01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2FF3B0-107C-4458-A820-9EAD8114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3A641F-4D61-49AC-A2D3-0D20F667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5269FD-8016-4131-98CE-D406AA86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E3C0B1-1A7B-42CD-8FAA-8D58EB2A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30861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B93C40-7C95-41BC-BA0D-8993E017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832FF7-837F-4D31-8868-E6144B1C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自动申请工具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221F08-7EA4-443B-9C0F-5794FDDC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90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A0BC77-568B-44DA-8A09-867651B1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790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E8328A-FA32-420D-9402-8C874B8C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790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C695F0-AC6F-4D30-B324-5F6FD299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790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2B3F0B-3950-443E-9E6F-2D790FCC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37909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891DCB-CD95-4C9A-B677-6B86CE57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862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0AFADA-87ED-4EB6-82EA-82E57FE7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11125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4"/>
          </a:solidFill>
          <a:ln xmlns:a="http://schemas.openxmlformats.org/drawingml/2006/main" w="14288">
            <a:solidFill>
              <a:srgbClr val="B6823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18D0083-4013-4761-874D-E26442BA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CareerPilot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7E47A0-FCBA-4F72-B533-ECB6DF52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4958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B89589-8925-453A-87CF-26F78693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4958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F6360F-4E42-456D-BD36-2AE3A9E4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4958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A97F69-6EEF-4FDA-B330-2D4A75B1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958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774837-0AD2-4D23-A13B-FCBC8E75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44958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F17D867-928D-494C-914B-682ABB89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483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核心空白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F0BC3F-647A-466E-93FE-57A19E698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9372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87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同时连接岗位选择、解释、材料优化与面试准备，并把最终提交权留给学生。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11772B8-79AB-4DD5-8C27-444137A6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1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0" i="1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不提供自动投递，也不承诺面试或 offer</a:t>
            </a:r>
          </a:p>
        </p:txBody>
      </p:sp>
    </p:spTree>
    <p:extLst>
      <p:ext uri="{BB962C8B-B14F-4D97-AF65-F5344CB8AC3E}">
        <p14:creationId xmlns:p14="http://schemas.microsoft.com/office/powerpoint/2010/main" val="21364248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CD56DD-5B04-4CC0-BE9F-96E21692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61EA72-FEDE-4E77-A67B-765AA5D6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USER JOURNEY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672C84-B55E-4EB9-A22F-47D768F0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E144D-0B15-4827-9882-374137CC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从学生画像到自主提交的闭环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F218CC-51EB-49E2-8878-E94315BE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05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2BE849-A5F9-4B24-90C3-F5F6579F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系统负责解析、推荐与生成建议，学生在关键节点做出决定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C48584-163D-477C-84FD-20384CB3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28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学生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08B5F4-52A8-45DF-A402-2973567A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系统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8D0F68-1333-4DF7-BAF1-2B264C2B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0" cy="2343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2AB75-3DF2-44EF-9E54-F2634214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095500"/>
            <a:ext cx="1409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7145">
            <a:solidFill>
              <a:srgbClr val="B682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9BB0F9-932E-4277-981B-931A5B79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276475"/>
            <a:ext cx="1219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上传简历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451D6D-16BD-4863-9706-EDAB5745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1409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7145">
            <a:solidFill>
              <a:srgbClr val="B682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542FA4-1975-4957-A28B-B1F7DDF8B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76475"/>
            <a:ext cx="1219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设置意向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161B59-0F58-4969-B238-46C4EF82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95500"/>
            <a:ext cx="14097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7145">
            <a:solidFill>
              <a:srgbClr val="B682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4C6162-33BF-4E94-B676-3A8435AB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76475"/>
            <a:ext cx="1219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选择目标 JD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BF6158-B1DC-4E20-9FAE-8F383CE6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095500"/>
            <a:ext cx="1619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17145">
            <a:solidFill>
              <a:srgbClr val="C0492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AF7650-332F-4B5C-B5EF-E1DF4D18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27647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审阅并提交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BE582C-D3C2-4156-BB74-E773C5B1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90950"/>
            <a:ext cx="1524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9E9"/>
          </a:solidFill>
          <a:ln xmlns:a="http://schemas.openxmlformats.org/drawingml/2006/main" w="13335">
            <a:solidFill>
              <a:srgbClr val="C9C5C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BAE1CC-100F-438D-B751-3013E51E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971925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解析画像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4135D0-8A34-4438-9F1D-760CA8CC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90950"/>
            <a:ext cx="1524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9E9"/>
          </a:solidFill>
          <a:ln xmlns:a="http://schemas.openxmlformats.org/drawingml/2006/main" w="13335">
            <a:solidFill>
              <a:srgbClr val="C9C5C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A8C49-789D-4E33-9A23-BD346D1B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971925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获取并解析 JD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69B84B-495D-45A1-9127-FF0DBB12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90950"/>
            <a:ext cx="1524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4"/>
          </a:solidFill>
          <a:ln xmlns:a="http://schemas.openxmlformats.org/drawingml/2006/main" w="13335">
            <a:solidFill>
              <a:srgbClr val="B682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31E043-225A-47C8-A8CC-6E7E3639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971925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推荐与解释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CECD7D-7ADD-4D3E-B184-94F2BA7F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90950"/>
            <a:ext cx="1524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9E9"/>
          </a:solidFill>
          <a:ln xmlns:a="http://schemas.openxmlformats.org/drawingml/2006/main" w="13335">
            <a:solidFill>
              <a:srgbClr val="C9C5C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642E60-BFEB-4362-9ADC-EF8784F5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71925"/>
            <a:ext cx="137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简历与面试建议</a:t>
            </a:r>
          </a:p>
        </p:txBody>
      </p:sp>
      <p:cxnSp>
        <p:nvCxnSpPr>
          <p:cNvPr id="64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16230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0492F"/>
            </a:solidFill>
            <a:prstDash val="solid"/>
            <a:tailEnd type="triangle" w="sm" len="sm"/>
          </a:ln>
        </p:spPr>
      </p:cxnSp>
      <p:cxnSp>
        <p:nvCxnSpPr>
          <p:cNvPr id="65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933950" y="2466975"/>
            <a:ext cx="2133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0492F"/>
            </a:solidFill>
            <a:prstDash val="solid"/>
            <a:tailEnd type="triangle" w="sm" len="sm"/>
          </a:ln>
        </p:spPr>
      </p:cxnSp>
      <p:cxnSp>
        <p:nvCxnSpPr>
          <p:cNvPr id="66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77250" y="2466975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0492F"/>
            </a:solidFill>
            <a:prstDash val="solid"/>
            <a:tailEnd type="triangle" w="sm" len="sm"/>
          </a:ln>
        </p:spPr>
      </p:cxnSp>
      <p:cxnSp>
        <p:nvCxnSpPr>
          <p:cNvPr id="67" name=""/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4171950" y="4162425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D5411"/>
            </a:solidFill>
            <a:prstDash val="solid"/>
            <a:tailEnd type="triangle" w="sm" len="sm"/>
          </a:ln>
        </p:spPr>
      </p:cxnSp>
      <p:cxnSp>
        <p:nvCxnSpPr>
          <p:cNvPr id="68" name=""/>
          <p:cNvCxnSpPr>
            <a:stCxn xmlns:a="http://schemas.openxmlformats.org/drawingml/2006/main" id="20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5943600" y="4162425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D5411"/>
            </a:solidFill>
            <a:prstDash val="solid"/>
            <a:tailEnd type="triangle" w="sm" len="sm"/>
          </a:ln>
        </p:spPr>
      </p:cxnSp>
      <p:cxnSp>
        <p:nvCxnSpPr>
          <p:cNvPr id="69" name=""/>
          <p:cNvCxnSpPr>
            <a:stCxn xmlns:a="http://schemas.openxmlformats.org/drawingml/2006/main" id="22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7715250" y="4162425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D5411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7961C9-8A94-4013-A19E-9B8CAF1E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838450"/>
            <a:ext cx="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499D31-F701-4272-961F-FA93D9A8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38450"/>
            <a:ext cx="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7CB5D6-1A16-4F26-90FF-59D5420E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838450"/>
            <a:ext cx="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D4AD15-E7DA-4BC5-8C19-65A38845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38450"/>
            <a:ext cx="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0DB6A0-EA05-44F7-9F25-FE3C3A31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143500"/>
            <a:ext cx="9677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98F771-FEA5-4578-8475-2E1F8DCB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24475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F3E4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 i="0">
                <a:solidFill>
                  <a:srgbClr val="FFF3E4"/>
                </a:solidFill>
                <a:latin typeface="Noto Serif SC"/>
                <a:ea typeface="Noto Serif SC"/>
                <a:cs typeface="Noto Serif SC"/>
              </a:rPr>
              <a:t>人在环原则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1CB29B-1D9D-4FB1-AA28-A6EE0C63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305425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575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推荐、解释和草稿由系统生成；最终判断、修改确认和申请提交由学生完成</a:t>
            </a:r>
          </a:p>
        </p:txBody>
      </p:sp>
    </p:spTree>
    <p:extLst>
      <p:ext uri="{BB962C8B-B14F-4D97-AF65-F5344CB8AC3E}">
        <p14:creationId xmlns:p14="http://schemas.microsoft.com/office/powerpoint/2010/main" val="12814195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263BBA-EA9F-4992-AA93-DCBA61D8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FCCB28-EC75-4CA6-A32E-B4C63845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CORE EXPERIENCE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AE906-763A-4DFF-BC63-5D9A14D9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A6F27E-E33C-404A-B1A3-DA6A881E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核心功能围绕目标 JD 协同工作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73DEDD-3047-48C7-98E4-7EA22B9C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05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E016A-D1AC-4BDE-8A53-E9CD62E2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学生画像和岗位要求共同决定系统建议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B8EEBA-0C4D-4D6D-9BAC-472964CC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2286000" cy="2286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C38335-3A85-45E7-BD50-C3FE0C68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71825"/>
            <a:ext cx="1752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773"/>
          </a:bodyPr>
          <a:lstStyle xmlns:a="http://schemas.openxmlformats.org/drawingml/2006/main"/>
          <a:p xmlns:a="http://schemas.openxmlformats.org/drawingml/2006/main">
            <a:pPr algn="ctr">
              <a:defRPr sz="3225" b="0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225" b="0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Target JD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10E2B7-67D4-4DBB-BEE3-4824049F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81000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E5B269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E5B269"/>
                </a:solidFill>
                <a:latin typeface="Noto Serif SC"/>
                <a:ea typeface="Noto Serif SC"/>
                <a:cs typeface="Noto Serif SC"/>
              </a:rPr>
              <a:t>技能 · 职责 · 约束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05317A-B547-461F-B53A-F85E1A50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2781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1430">
            <a:solidFill>
              <a:srgbClr val="C9C5C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FFA97C-B4E4-4367-8D8E-80C3DD0D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20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岗位推荐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65180E-BCEA-4F83-A578-0930E74C3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规则筛选后比较技能与经历的相关性</a:t>
            </a:r>
          </a:p>
        </p:txBody>
      </p:sp>
      <p:cxnSp>
        <p:nvCxnSpPr>
          <p:cNvPr id="39" name=""/>
          <p:cNvCxnSpPr>
            <a:stCxn xmlns:a="http://schemas.openxmlformats.org/drawingml/2006/main" id="10" idx="3"/>
            <a:endCxn xmlns:a="http://schemas.openxmlformats.org/drawingml/2006/main" id="7" idx="2"/>
          </p:cNvCxnSpPr>
          <p:nvPr/>
        </p:nvCxnSpPr>
        <p:spPr>
          <a:xfrm xmlns:a="http://schemas.openxmlformats.org/drawingml/2006/main">
            <a:off x="3543300" y="2762250"/>
            <a:ext cx="1409700" cy="952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68235"/>
            </a:solidFill>
            <a:prstDash val="solid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8D5B62-F3E3-4AB1-8416-4B0C8FF0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28850"/>
            <a:ext cx="2781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4"/>
          </a:solidFill>
          <a:ln xmlns:a="http://schemas.openxmlformats.org/drawingml/2006/main" w="11430">
            <a:solidFill>
              <a:srgbClr val="C9C5C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DB4101-8C2C-4FB1-8827-85B3D94E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812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0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20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推荐解释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45D767-0E7F-43FA-A97E-AFF1ABF9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781300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展示匹配证据与主要技能差距</a:t>
            </a:r>
          </a:p>
        </p:txBody>
      </p:sp>
      <p:cxnSp>
        <p:nvCxnSpPr>
          <p:cNvPr id="43" name=""/>
          <p:cNvCxnSpPr>
            <a:stCxn xmlns:a="http://schemas.openxmlformats.org/drawingml/2006/main" id="7" idx="6"/>
            <a:endCxn xmlns:a="http://schemas.openxmlformats.org/drawingml/2006/main" id="14" idx="1"/>
          </p:cNvCxnSpPr>
          <p:nvPr/>
        </p:nvCxnSpPr>
        <p:spPr>
          <a:xfrm xmlns:a="http://schemas.openxmlformats.org/drawingml/2006/main" flipV="1">
            <a:off x="7239000" y="2762250"/>
            <a:ext cx="1409700" cy="952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68235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AE167C-ED46-46EF-9132-D12A9420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2781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1430">
            <a:solidFill>
              <a:srgbClr val="C9C5C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BBF55B-4702-4BC3-BDCA-43B524B6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6250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20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简历优化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CC284E-D837-4A51-865E-1C512DD8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62550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围绕岗位职责改写表达并检查事实</a:t>
            </a:r>
          </a:p>
        </p:txBody>
      </p:sp>
      <p:cxnSp>
        <p:nvCxnSpPr>
          <p:cNvPr id="47" name=""/>
          <p:cNvCxnSpPr>
            <a:stCxn xmlns:a="http://schemas.openxmlformats.org/drawingml/2006/main" id="18" idx="3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3543300" y="3714750"/>
            <a:ext cx="1409700" cy="1428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68235"/>
            </a:solidFill>
            <a:prstDash val="solid"/>
            <a:tailEnd type="triangle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422662-D404-44E0-87B1-AFDC01A6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610100"/>
            <a:ext cx="27813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4"/>
          </a:solidFill>
          <a:ln xmlns:a="http://schemas.openxmlformats.org/drawingml/2006/main" w="11430">
            <a:solidFill>
              <a:srgbClr val="C9C5C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4E3B02-AA95-4A7F-A57E-623D0378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6250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20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20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面试与进度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93C721-CB59-4308-9451-5C5D0393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162550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生成题库、反馈与下一步行动</a:t>
            </a:r>
          </a:p>
        </p:txBody>
      </p:sp>
      <p:cxnSp>
        <p:nvCxnSpPr>
          <p:cNvPr id="51" name=""/>
          <p:cNvCxnSpPr>
            <a:stCxn xmlns:a="http://schemas.openxmlformats.org/drawingml/2006/main" id="7" idx="6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7239000" y="3714750"/>
            <a:ext cx="1409700" cy="1428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68235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CC2E16-507B-4630-B93E-FA745BB0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0483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1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系统建议可解释，学生保留最终选择权</a:t>
            </a:r>
          </a:p>
        </p:txBody>
      </p:sp>
    </p:spTree>
    <p:extLst>
      <p:ext uri="{BB962C8B-B14F-4D97-AF65-F5344CB8AC3E}">
        <p14:creationId xmlns:p14="http://schemas.microsoft.com/office/powerpoint/2010/main" val="3460286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2E8AF1-CBFC-4831-B079-5F8FCEC24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EC70BB-EA8D-47E9-BD2E-F982C8BE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9A151-AE37-486B-9A3A-C5ED5EC4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3373C8-E498-4399-B28C-9794BB1D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Proposal 阶段的范围与边界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2651B2-CA00-4CCC-97C4-964F1873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05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8D913-4D87-4744-A368-49F1D703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优先完成可演示的学生求职闭环，控制数据、行业和自动化风险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570699-7614-4213-A42B-473E8742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33600"/>
            <a:ext cx="67246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4"/>
          </a:solidFill>
          <a:ln xmlns:a="http://schemas.openxmlformats.org/drawingml/2006/main" w="14288">
            <a:solidFill>
              <a:srgbClr val="B682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C59CEA-A801-43DD-B884-70A74799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225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范围内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A57B89-3CB5-44DB-A4F9-C9AC467A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57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A93754-1EBB-4648-B082-401C32AC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908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岗位推荐与解释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430A88-8CF9-438D-96A8-59550FD7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90850"/>
            <a:ext cx="320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IT 实习和校招岗位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AEF6B9-D00F-4C63-885C-7B59DBB3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294581-01E6-4D85-B343-029A3059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4330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JD 定向简历优化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EE200F-A9DD-4934-80B1-A1D887FE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43300"/>
            <a:ext cx="320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只改写已有事实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56D136-6358-487F-B0FE-2011627C6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62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09B5D-8F7B-4D16-916B-17951431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957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模拟面试原型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C262D6-5887-4F03-B52F-55146FA9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095750"/>
            <a:ext cx="320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题库、录制、转写占位与反馈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DC3CEE-6462-4A32-8908-BE12A531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B0ECBB-C3FF-43C0-8B7E-2466151F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4820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申请进度与基础计划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F3FB93-94D3-442A-819E-8EF4B11D2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48200"/>
            <a:ext cx="320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截止日期和时间预算提示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3AACDC-60B0-49AA-8840-344E2ED4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33600"/>
            <a:ext cx="40386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14288">
            <a:solidFill>
              <a:srgbClr val="C9C5C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D548AA-A78E-4F5F-8D40-D3E12355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812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22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范围外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FD7265-84AD-47B2-8DEC-6A5BEE1B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4325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0492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FA0BD2-4FFD-490D-BD3D-B26C6C3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289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自动提交申请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D50141-16B8-416C-895E-D67AC6D5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4330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0492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8A3D85-011A-40B6-BE6E-82832C06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2900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保证面试或 offer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FCD6A1E-A06A-44C2-B185-901FB48D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94335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0492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322A26-1E62-4672-9E66-82569C61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290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虚构学生经历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9BB74-A0F5-41E6-B1F0-ABCA8B09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4340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0492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5D6CA4-96F8-4087-B05B-015ADE6B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2910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非 IT 及中高级岗位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F34CD1-C441-44BA-9541-08040A1E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74345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0492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B8C579-344E-433C-A688-D23D8FC0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29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大规模抓取商业平台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F3DA9B-375C-49CB-8BFB-C5EDFE4C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143500"/>
            <a:ext cx="171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0492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23F321E-D231-4C28-AC59-F9B347C4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2920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首版中文简历与 JD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E98E1B-270A-4D6D-8E2D-2C6FBBE8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102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MVP 原则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16CF00-18CD-4B5F-8AE0-A56D8805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885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深度优先于行业覆盖面；可解释建议优先于全自动执行</a:t>
            </a:r>
          </a:p>
        </p:txBody>
      </p:sp>
    </p:spTree>
    <p:extLst>
      <p:ext uri="{BB962C8B-B14F-4D97-AF65-F5344CB8AC3E}">
        <p14:creationId xmlns:p14="http://schemas.microsoft.com/office/powerpoint/2010/main" val="9609274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7BABC4-D5F9-4B40-9E5F-4F84B35F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13D22-7BF4-4A6F-AFB8-5874CAEC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SYSTEM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77A8E9-B7D4-4CD3-8645-E59594829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63D39E-C16D-44AC-B8D7-177266B9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系统框架与技术栈对应关系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C7659E-5F7A-435A-B8A5-CE5A0DDD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05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47A24B-1A16-4B12-9A45-420293A6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模块化分层让推荐依据、生成内容和数据来源都可以追踪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631AC4-9549-48F5-AE78-CDA996C0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9E9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00A920-1CB7-45CC-9FC3-C1868479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19325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用户界面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B02728-1566-4A1E-9B2F-8ED3CE59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2193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推荐列表 · 简历审阅 · 模拟面试 · 目标岗位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A082E4-3CC1-445B-951B-E48DF983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19325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1200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React / TypeScript / HTML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13015-2173-456E-93B3-0F33625A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19400"/>
            <a:ext cx="1112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473690-2B9F-4C72-B8DB-81E2B4E6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6227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服务编排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BBAC43-D21E-46CD-AE85-008E72599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962275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统一接口与任务协调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B2D90F-DF73-4130-8453-42985A81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962275"/>
            <a:ext cx="327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0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Python 3.11 · FastAPI · LangChain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AEF214-D3A0-4952-91C0-E4A4A4EA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11125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4"/>
          </a:solidFill>
          <a:ln xmlns:a="http://schemas.openxmlformats.org/drawingml/2006/main" w="17145">
            <a:solidFill>
              <a:srgbClr val="B682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3C4C74-48C3-483E-A6A1-F569351F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29025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推理与生成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52AB7D-1F59-4EFB-B6DE-B20E09E5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629025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规则筛选 · 语义排序 · 技能图谱 · 受约束生成 · 计划建议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5CDF92-B4F5-4461-BB03-BF7AAD8E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29025"/>
            <a:ext cx="327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0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Experta · Sentence-BERT · PyKEEN · LLM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75A1BD-3680-498B-8B51-5879884B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0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9E9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0CFB4C-D1E9-4647-8F98-1F246F28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数据与知识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A1D98B-C2BC-4627-B842-4C7D3173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5243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学生画像 · 岗位画像 · 技能关系 · 证据片段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EE0448-0A46-4D3E-92A5-454284C05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24375"/>
            <a:ext cx="3276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0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spaCy · Neo4j · ChromaDB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6E9D39-E659-4299-B45A-02ACF52CA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11125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78FDF1-A14F-461A-B0FC-5F2123AF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数据来源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DA0EBA-A3F8-48F5-9105-E73C7A64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267325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公开 JD · ESCO / O*NET · 脱敏简历 · 面试材料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6525DE-8A3C-427D-A1B5-DDD2026B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267325"/>
            <a:ext cx="327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0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清洗 · 去重 · 脱敏 · 来源记录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59E397-2248-4A5B-8512-F309F938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24550"/>
            <a:ext cx="1009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人在环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141D9B-9874-4EA2-998A-6D7D2859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86450"/>
            <a:ext cx="885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7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系统保留推荐证据和生成依据，学生审阅建议并完成最终提交</a:t>
            </a:r>
          </a:p>
        </p:txBody>
      </p:sp>
    </p:spTree>
    <p:extLst>
      <p:ext uri="{BB962C8B-B14F-4D97-AF65-F5344CB8AC3E}">
        <p14:creationId xmlns:p14="http://schemas.microsoft.com/office/powerpoint/2010/main" val="176351271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3247FDF-8908-4249-8CD8-D5A8C234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99584B-2D8B-48E5-BE8E-F92A7E22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REASONING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7DB907-ED65-4622-9FAF-37D3999B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D5E466-672F-45D4-9904-04892881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混合推理为何适合 IT 求职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E0AB5F-9374-4379-862A-40859142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05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489BEF-4191-40A9-8206-EEECF4A4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不同类型的问题需要不同方法，单一相似度分数无法同时处理资格、技能关系和生成可信度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7EC771-C923-4C7E-9554-93B11167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84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2D2B2B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2D2B2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C7B167-8ACA-42EB-9E11-19214C7A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18478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9E9"/>
          </a:solidFill>
          <a:ln xmlns:a="http://schemas.openxmlformats.org/drawingml/2006/main" w="13335">
            <a:solidFill>
              <a:srgbClr val="2D2B2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8C022-20A0-4CD3-B9B2-5F6EE581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003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规则筛选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9ACF8C-626E-4093-A94E-EDC740CE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5755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地点、学历、准证、截止日期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170A77-C51E-464E-86DA-BA360A32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152650"/>
            <a:ext cx="184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1AE0E-9E53-4424-95B2-46AA9398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628900"/>
            <a:ext cx="18478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9E9"/>
          </a:solidFill>
          <a:ln xmlns:a="http://schemas.openxmlformats.org/drawingml/2006/main" w="13335">
            <a:solidFill>
              <a:srgbClr val="B682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E61EDD-08D9-4581-9A2A-A6D03DB7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8003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语义匹配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15885C-17DA-4184-91C1-BF913030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5755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项目经历与岗位职责的相关性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1E4728-6705-4F58-80E3-4DDF698D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52650"/>
            <a:ext cx="184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C0492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C0492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3F8B41-5713-4351-B75E-5FE02EF4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28900"/>
            <a:ext cx="18478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9E9"/>
          </a:solidFill>
          <a:ln xmlns:a="http://schemas.openxmlformats.org/drawingml/2006/main" w="13335">
            <a:solidFill>
              <a:srgbClr val="C0492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634C68-84E7-4D38-B03E-6194CDF3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8003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技能图谱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2D5554-1A41-4D4D-94C7-6055BB79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同义技能、上下位关系与可迁移差距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28D09C-9929-4095-A3EC-5223A10A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52650"/>
            <a:ext cx="1847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47765C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47765C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6BDAEA-6882-4B17-A12E-9B0C22B6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28900"/>
            <a:ext cx="18478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4"/>
          </a:solidFill>
          <a:ln xmlns:a="http://schemas.openxmlformats.org/drawingml/2006/main" w="13335">
            <a:solidFill>
              <a:srgbClr val="47765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2DB755-1A92-4325-A0DB-C4AF6AE2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00350"/>
            <a:ext cx="1543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受约束生成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AE70AB-F849-472D-A4DD-F83EC96F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57550"/>
            <a:ext cx="1543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推荐解释、简历改写与面试题库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723A82-D876-4EDD-A5AF-CFDF70FF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52650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837228-E600-46FE-AABD-4E7FC0C3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28765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9E9"/>
          </a:solidFill>
          <a:ln xmlns:a="http://schemas.openxmlformats.org/drawingml/2006/main" w="13335">
            <a:solidFill>
              <a:srgbClr val="7D541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DDB598-42CD-4453-9977-A8AA5ADB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800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72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计划规则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D8C0D2-56AB-4BC6-8394-AB2554D6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575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岗位状态、截止日期和时间预算</a:t>
            </a:r>
          </a:p>
        </p:txBody>
      </p:sp>
      <p:cxnSp>
        <p:nvCxnSpPr>
          <p:cNvPr id="71" name=""/>
          <p:cNvCxnSpPr>
            <a:stCxn xmlns:a="http://schemas.openxmlformats.org/drawingml/2006/main" id="8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40030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5C3"/>
            </a:solidFill>
            <a:prstDash val="solid"/>
            <a:tailEnd type="triangle" w="sm" len="sm"/>
          </a:ln>
        </p:spPr>
      </p:cxnSp>
      <p:cxnSp>
        <p:nvCxnSpPr>
          <p:cNvPr id="72" name="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445770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5C3"/>
            </a:solidFill>
            <a:prstDash val="solid"/>
            <a:tailEnd type="triangle" w="sm" len="sm"/>
          </a:ln>
        </p:spPr>
      </p:cxnSp>
      <p:cxnSp>
        <p:nvCxnSpPr>
          <p:cNvPr id="73" name=""/>
          <p:cNvCxnSpPr>
            <a:stCxn xmlns:a="http://schemas.openxmlformats.org/drawingml/2006/main" id="16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651510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5C3"/>
            </a:solidFill>
            <a:prstDash val="solid"/>
            <a:tailEnd type="triangle" w="sm" len="sm"/>
          </a:ln>
        </p:spPr>
      </p:cxnSp>
      <p:cxnSp>
        <p:nvCxnSpPr>
          <p:cNvPr id="74" name=""/>
          <p:cNvCxnSpPr>
            <a:stCxn xmlns:a="http://schemas.openxmlformats.org/drawingml/2006/main" id="20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8572500" y="3324225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C9C5C3"/>
            </a:solidFill>
            <a:prstDash val="solid"/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0AD37C-C066-463C-ADB5-0F69B27F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52950"/>
            <a:ext cx="11106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856B5A-2429-4DAD-BD17-22BF4F79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3E4"/>
                </a:solidFill>
                <a:latin typeface="Noto Serif SC"/>
                <a:ea typeface="Noto Serif SC"/>
                <a:cs typeface="Noto Serif SC"/>
              </a:defRPr>
            </a:pPr>
            <a:r>
              <a:rPr sz="1650" b="1" i="0">
                <a:solidFill>
                  <a:srgbClr val="FFF3E4"/>
                </a:solidFill>
                <a:latin typeface="Noto Serif SC"/>
                <a:ea typeface="Noto Serif SC"/>
                <a:cs typeface="Noto Serif SC"/>
              </a:rPr>
              <a:t>可解释输出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514C97-CA8B-4CC6-81E2-88236B9F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101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20656F-52AA-4412-B75A-0542982C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33925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符合资格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BED97E-E78D-45F2-8B6D-5AFD54F1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101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4CC2DC-E40A-4A8E-A862-808EC5D7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33925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匹配证据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BAA446-1EE9-4555-AE81-D3318865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101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5E7BB7-EF5F-4A9D-8DB4-1D1608EC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733925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技能差距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0B21B6-3BC3-4AC3-8F83-52CFCFC6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101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69E936A-1BE2-4EFB-847E-431ED7DF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733925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事实一致的草稿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A9B953-0ACA-45A3-9988-077AE6B5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481012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C9E366-6DC5-4FAB-B04D-C49E40B0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733925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下一步行动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567F5A8-8516-4E56-86DB-83A2F4EB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43600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设计原因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575F63-FEA1-41F0-B16E-96AC7502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95975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57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硬约束不能被相似度抵消；生成内容必须能够回溯到简历和 JD 中的事实。</a:t>
            </a:r>
          </a:p>
        </p:txBody>
      </p:sp>
    </p:spTree>
    <p:extLst>
      <p:ext uri="{BB962C8B-B14F-4D97-AF65-F5344CB8AC3E}">
        <p14:creationId xmlns:p14="http://schemas.microsoft.com/office/powerpoint/2010/main" val="6994129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B088CF8-D51F-40CB-9FE5-E9AE8192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B16011-D145-42BF-BA42-696727F6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DATA &amp;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B1DBC-EF08-434E-8D4C-A416D430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90BE2-FD4F-4256-AE87-2130A407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数据准备与评估路径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5422A8-1EAC-4B29-9408-8C4C8B3A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05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AB4E02-76E1-44BE-9F30-03936059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每类数据对应明确用途，并通过人工样例检查验证关键模块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7E425A-7076-48E5-8A91-29ACC273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8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数据来源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4098A1-799A-431C-BD2B-33BA5423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145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8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处理与使用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CD909B-F4BB-404B-9114-AB3354F8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145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8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评估问题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C4A73E-70A2-4D46-972C-E4C891A6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B682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50186E-9326-4A49-9C2B-5F72957A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公开 IT 岗位 JD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4C8791-5D0D-4942-8BB2-6D5ECDE5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48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B682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611E78-8B30-44A1-8C47-CAA2481E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7660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ESCO / O*NET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2B2BF-4395-4691-BCD0-B84A4BE1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386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B682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3736EF-EC8C-4C22-A32A-F8A678D0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671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脱敏简历样本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F95C7E-2ED9-45C5-B1DA-3E5D733E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291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B682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A99EA9-FD92-4161-A0E1-DE3FD67A2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公开面试材料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6CABFF-3BBC-4E55-9104-AF316C51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97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B682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9B57A6-4610-47FA-9778-4F21F993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482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团队相关性判断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FE35D1-1025-421B-85FA-DDF2FCA2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575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B682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754C30-FAC1-4E06-AD10-55B1029D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860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清洗与结构化抽取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1F97A6-9053-44DB-98ED-F7A14131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48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B6823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1C244B-50A6-4768-A869-E438C32D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7660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技能别名与关系整理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9358D0-E14A-417D-AA52-9776BEF1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386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B682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75227C-A9CF-4B7F-886F-17C9C2067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8671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学生画像与事实证据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88F7A9-79FB-496C-9028-022E3FF2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B6823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D8B77F-02CD-46D5-95EC-8589DE5D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45770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题库与反馈规则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878B49-FE0E-4E48-B2A4-FA4C6166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197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B682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D673CC-AC3D-4219-9262-E2E4ED7E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482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排序权重调校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D811D1-6480-43D6-8EF5-D44EC5FB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575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C0492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821AA8-C58B-4C9D-9C1A-8E149052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8605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抽取是否准确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103BF6-820C-49FB-B59E-86FFEE3A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48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C0492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867EEA-2FB6-461A-A918-BFEFFFFF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27660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推荐顺序是否合理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A1C7F2-A196-44A8-8FCC-C099660B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0386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C0492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36CDB0-17D0-4F3F-9499-6EB11F26C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6715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差距解释是否可信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EAB3F8-D9CE-4AE2-83E2-75188398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6291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C0492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59EDC6-8258-424C-A9E5-57367EAE4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45770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改写是否保持事实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B3AEAEE-C5BB-4487-B4A5-4CDAD5E0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21970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C0492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91EEAF1-B7FF-45BF-9D18-8B74FEF4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04825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面试与计划是否实用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81C2BC-F344-42A2-A0FD-DBC453C8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533650"/>
            <a:ext cx="0" cy="3086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5169F73-0D2C-47A2-96E7-0A43955F3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33650"/>
            <a:ext cx="0" cy="3086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CED1063-F42A-4805-8E6A-7B5B3E93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29300"/>
            <a:ext cx="11106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4"/>
          </a:solidFill>
          <a:ln xmlns:a="http://schemas.openxmlformats.org/drawingml/2006/main" w="9525">
            <a:solidFill>
              <a:srgbClr val="B68235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25DC979-E040-498A-812F-E07707AD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62650"/>
            <a:ext cx="1600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隐私与可信度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E2F049F-43C4-4B1E-9387-90160310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924550"/>
            <a:ext cx="887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外部调用前脱敏；保存来源与证据片段；没有真实申请结果时不声称效果提升。</a:t>
            </a:r>
          </a:p>
        </p:txBody>
      </p:sp>
    </p:spTree>
    <p:extLst>
      <p:ext uri="{BB962C8B-B14F-4D97-AF65-F5344CB8AC3E}">
        <p14:creationId xmlns:p14="http://schemas.microsoft.com/office/powerpoint/2010/main" val="7766576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EDC814A-F0AD-4E7A-9B8C-50B8EFE9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E3628-1218-4217-8737-94012042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DELIVERY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A96CD3-337C-4294-B5E6-8779A9D8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14DF3-DB28-44DE-AA94-4702E31C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34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六周实施计划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6A9302-266B-4FF8-9764-71984991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0555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A63DB0-8695-491F-90AF-A64F077B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先打通数据与推理，再接入生成、界面与评估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CD1F30-EAC7-4840-A0E8-9E558C3E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764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9/14–20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1726AD-B97E-4FB4-83C2-0CBE1890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0764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9/21–27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3DE32-1C28-4C62-A2F1-50968599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764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9/28–10/4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46980E-4C69-4A21-A397-E2BAE960E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764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10/5–11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43111F-F3B1-4179-8B4B-C8CCAE7C5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0764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10/12–18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97275-D27F-44B2-9B1C-66CCB1A6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0764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112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10/19–25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41E481-3DD2-42DF-8F20-E3B437E8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955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P1 数据流水线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3BF56D-1F45-4130-A5B6-844855B9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289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235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300287-A2A4-4391-B7F7-F4949188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6289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B8D261-6D5C-46C5-8555-B7564697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289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F07570-9994-4CD7-8933-4CE80590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289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E7334D-71CA-44E3-84F1-CFD85C22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289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EA90AA-68E0-4A67-AD21-592F4109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6289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D412D8-F6DB-45C2-86D8-A6433699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7051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岗位抽取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BD272C-F053-45B4-AE27-EB4DB586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480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P2 核心推理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B0B8F-61B8-4E9A-8FAE-25F19C4C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813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2A00E0-5569-484D-A105-B15D4EEE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1813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1DE032-0AE4-4012-80F1-ECAB1CDF0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813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A36D9B-93DA-458F-873E-8E103021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813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A10995-D2CA-4FD2-8DBE-1D174DAED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813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7D3C64-A171-4AB9-851A-4443A65F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813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9E8F87-9C13-4F90-93CC-EFAE126D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2575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排序与图谱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B3B9DC-DC56-4438-AC98-CED35C77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004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P3 生成模块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1DE621-EF7C-41A9-9C09-93042790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338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D116A4-9D3D-4CA2-A126-5E925803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7338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2FCF65-9173-427C-8BBD-3E0E123D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338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65C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A411F9-FE47-4EEA-AEF4-18B5FC38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338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B0EAA0-A7B1-435B-AA35-00C90A88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338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206E40-9FAC-41C9-90DA-C45323C5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338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9FACC9-06CE-4009-A56F-6A385AC5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100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改写与题库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1F8709-4321-4B52-9760-1C88796A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529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P4 UI 与集成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08F30E-062B-4FB2-8934-B0C386E7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862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073417-7ED7-435D-9144-E3A335ABE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2862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70FCB5-4FD1-4058-9D65-901624A0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2862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D641E4-01CE-46B7-B635-28EB09DA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862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D5411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66AA64-1654-48F6-AB18-17B690D1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2862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7D0ED13-3C29-41BA-8EF0-7AB507E9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2862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0B20292-7207-4483-91FC-9F46B1B2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624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前端与 API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01E6EF-ED37-4653-9A82-532A0953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05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P5 评估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EAF73A3-F3BB-4A2E-98AB-6C1C16C5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387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0F49F4-267D-4CAC-BE26-E51B934B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8387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301635-3C56-423C-994D-D4D7E9F9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387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F7BB726-931B-47BC-BC01-13559D55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8387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9A6FF54-D438-4B22-B624-A1448FCA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387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2B2B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2BDC598-1324-4143-8211-9D61E8FE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83870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E0CD936-4AA8-4D5B-890E-5B328BEC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1490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实验与报告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D04800C-E9B1-42E7-B498-6FDF4B2F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578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P6 交付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1D85F87-B76E-443F-9F32-26414EF0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3911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5B14077-452F-4CAC-BD35-767C19CF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3911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8D53F3-0EE1-4095-9AEC-237B7C04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911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CEC05FE-B773-42A8-BD30-95676464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3911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91D949-406D-445C-A209-D1D267E2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3911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2F2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719AF1D-05A3-48BB-9BFD-D1212DAD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91150"/>
            <a:ext cx="13906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694E0A8-8C61-4098-A7F1-271D9C93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4673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defRPr>
            </a:pPr>
            <a:r>
              <a:rPr sz="1125" b="1" i="0">
                <a:solidFill>
                  <a:srgbClr val="FFFFFF"/>
                </a:solidFill>
                <a:latin typeface="Noto Serif SC"/>
                <a:ea typeface="Noto Serif SC"/>
                <a:cs typeface="Noto Serif SC"/>
              </a:rPr>
              <a:t>视频与提交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790005F-3AA5-44AB-8225-A805F00C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1110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D255CB-E8D7-4920-A88E-2344A4C0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293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120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关键控制点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CAF831F-E805-48BB-9BBB-C8A9CB09F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6200775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10 月 4 日冻结范围；10 月 11 日形成可演示系统；10 月 18 日完成评估</a:t>
            </a:r>
          </a:p>
        </p:txBody>
      </p:sp>
    </p:spTree>
    <p:extLst>
      <p:ext uri="{BB962C8B-B14F-4D97-AF65-F5344CB8AC3E}">
        <p14:creationId xmlns:p14="http://schemas.microsoft.com/office/powerpoint/2010/main" val="16685060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2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1A0C97-B4D1-4BB2-A8EE-058FD376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defRPr>
            </a:pPr>
            <a:r>
              <a:rPr sz="1575" b="1" i="0">
                <a:solidFill>
                  <a:srgbClr val="201F1D"/>
                </a:solidFill>
                <a:latin typeface="Georgia"/>
                <a:ea typeface="Georgia"/>
                <a:cs typeface="Georgia"/>
              </a:rPr>
              <a:t>CareerPilot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FF8BC-7CBA-4EEC-8774-B4516B9A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3850"/>
            <a:ext cx="2133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975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EXPECTED OUTCOME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6F8B1-EB1F-41E3-82F6-7892C3C8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25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6E6A80-CD78-4780-8DF2-D0590748F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defRPr>
            </a:pPr>
            <a:r>
              <a:rPr sz="2550" b="1" i="0">
                <a:solidFill>
                  <a:srgbClr val="7D5411"/>
                </a:solidFill>
                <a:latin typeface="Noto Serif SC"/>
                <a:ea typeface="Noto Serif SC"/>
                <a:cs typeface="Noto Serif SC"/>
              </a:rPr>
              <a:t>预期交付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CCEF63-0377-4C99-B2BB-B4405D11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383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4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一条可演示、可解释、</a:t>
            </a:r>
          </a:p>
          <a:p xmlns:a="http://schemas.openxmlformats.org/drawingml/2006/main">
            <a:pPr algn="l">
              <a:defRPr sz="4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4350" b="0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可审阅的学生求职闭环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875801-6B12-4A18-8745-5BA3ECEC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143000"/>
            <a:ext cx="299085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49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895074-D3F5-4371-A0A2-975EE6DB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562100"/>
            <a:ext cx="230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800" b="0" i="0">
                <a:solidFill>
                  <a:srgbClr val="FFF3E4"/>
                </a:solidFill>
                <a:latin typeface="Georgia"/>
                <a:ea typeface="Georgia"/>
                <a:cs typeface="Georgia"/>
              </a:defRPr>
            </a:pPr>
            <a:r>
              <a:rPr sz="4800" b="0" i="0">
                <a:solidFill>
                  <a:srgbClr val="FFF3E4"/>
                </a:solidFill>
                <a:latin typeface="Georgia"/>
                <a:ea typeface="Georgia"/>
                <a:cs typeface="Georgia"/>
              </a:rPr>
              <a:t>Q&amp;A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2F770-6794-41D2-9B12-0D6AF88D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47650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FFF3E4"/>
                </a:solidFill>
                <a:latin typeface="Noto Serif SC"/>
                <a:ea typeface="Noto Serif SC"/>
                <a:cs typeface="Noto Serif SC"/>
              </a:defRPr>
            </a:pPr>
            <a:r>
              <a:rPr sz="1500" b="0" i="0">
                <a:solidFill>
                  <a:srgbClr val="FFF3E4"/>
                </a:solidFill>
                <a:latin typeface="Noto Serif SC"/>
                <a:ea typeface="Noto Serif SC"/>
                <a:cs typeface="Noto Serif SC"/>
              </a:rPr>
              <a:t>谢谢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2D3A4F-D5FB-4105-96D6-07045509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719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23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5B0A19-4909-410F-987A-BC6C8BF0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8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推荐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F9282-D5A7-4D1A-9764-47701DF4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C85BC4-C9E3-45E1-ABD0-F2087BD0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岗位排序与可追踪的匹配依据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E37B09-6C74-4F34-9E03-753074B6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719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C0492F"/>
                </a:solidFill>
                <a:latin typeface="Georgia"/>
                <a:ea typeface="Georgia"/>
                <a:cs typeface="Georgia"/>
              </a:defRPr>
            </a:pPr>
            <a:r>
              <a:rPr sz="2325" b="0" i="0">
                <a:solidFill>
                  <a:srgbClr val="C0492F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0EC469-AADB-4F62-9715-E0C95A9A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2672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8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材料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FA41D7-13D4-409C-BB6D-E1D19E5D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6250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AD08E0-609D-4DCE-9B7F-29DF99B2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953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围绕目标 JD 的事实一致改写建议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FC326F-65D1-4869-9739-2DBCA9924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719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23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F3F650-662D-474A-977E-A0467FDA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672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8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准备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92D08A-04FF-4CD6-9975-DFA1B79D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9ECF98-D0C5-4A20-9D76-6FC511F3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53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岗位相关题库、反馈与进度提示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4E617-FA10-4362-A552-45082F67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71900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B68235"/>
                </a:solidFill>
                <a:latin typeface="Georgia"/>
                <a:ea typeface="Georgia"/>
                <a:cs typeface="Georgia"/>
              </a:defRPr>
            </a:pPr>
            <a:r>
              <a:rPr sz="2325" b="0" i="0">
                <a:solidFill>
                  <a:srgbClr val="B68235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772BE8-6B96-47B0-AA3D-2CE0E298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672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defRPr>
            </a:pPr>
            <a:r>
              <a:rPr sz="1875" b="1" i="0">
                <a:solidFill>
                  <a:srgbClr val="201F1D"/>
                </a:solidFill>
                <a:latin typeface="Noto Serif SC"/>
                <a:ea typeface="Noto Serif SC"/>
                <a:cs typeface="Noto Serif SC"/>
              </a:rPr>
              <a:t>工程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D9E8C9-4510-47AD-8329-F345AE4F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76250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5C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0E56D0-C16A-4871-8F8F-648789D1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953000"/>
            <a:ext cx="238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defRPr>
            </a:pPr>
            <a:r>
              <a:rPr sz="1275" b="0" i="0">
                <a:solidFill>
                  <a:srgbClr val="666160"/>
                </a:solidFill>
                <a:latin typeface="Noto Serif SC"/>
                <a:ea typeface="Noto Serif SC"/>
                <a:cs typeface="Noto Serif SC"/>
              </a:rPr>
              <a:t>模块化原型、评估记录与项目仓库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917900-A64D-4D8C-9FD5-DE79F82D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531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1">
                <a:solidFill>
                  <a:srgbClr val="C0492F"/>
                </a:solidFill>
                <a:latin typeface="Noto Serif SC"/>
                <a:ea typeface="Noto Serif SC"/>
                <a:cs typeface="Noto Serif SC"/>
              </a:defRPr>
            </a:pPr>
            <a:r>
              <a:rPr sz="1425" b="0" i="1">
                <a:solidFill>
                  <a:srgbClr val="C0492F"/>
                </a:solidFill>
                <a:latin typeface="Noto Serif SC"/>
                <a:ea typeface="Noto Serif SC"/>
                <a:cs typeface="Noto Serif SC"/>
              </a:rPr>
              <a:t>系统提出建议，学生作出决定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513D0F-66E0-4D41-82B3-AA95696F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6191250"/>
            <a:ext cx="3295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7D5411"/>
                </a:solidFill>
                <a:latin typeface="Georgia"/>
                <a:ea typeface="Georgia"/>
                <a:cs typeface="Georgia"/>
              </a:defRPr>
            </a:pPr>
            <a:r>
              <a:rPr sz="1050" b="0" i="0">
                <a:solidFill>
                  <a:srgbClr val="7D5411"/>
                </a:solidFill>
                <a:latin typeface="Georgia"/>
                <a:ea typeface="Georgia"/>
                <a:cs typeface="Georgia"/>
              </a:rPr>
              <a:t>NUS ISS · Practice Module · 2026</a:t>
            </a:r>
          </a:p>
        </p:txBody>
      </p:sp>
    </p:spTree>
    <p:extLst>
      <p:ext uri="{BB962C8B-B14F-4D97-AF65-F5344CB8AC3E}">
        <p14:creationId xmlns:p14="http://schemas.microsoft.com/office/powerpoint/2010/main" val="19682771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2026-09-08T16:21:53.8980000Z</dcterms:created>
  <dcterms:modified xsi:type="dcterms:W3CDTF">2026-09-08T16:21:53.8980000Z</dcterms:modified>
</coreProperties>
</file>